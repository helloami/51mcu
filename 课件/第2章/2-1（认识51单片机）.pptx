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4" r:id="rId3"/>
    <p:sldId id="331" r:id="rId4"/>
    <p:sldId id="332" r:id="rId5"/>
    <p:sldId id="333" r:id="rId6"/>
    <p:sldId id="334" r:id="rId7"/>
    <p:sldId id="335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13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：认识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单片机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69" name="组合 7169"/>
          <p:cNvGrpSpPr>
            <a:grpSpLocks noChangeAspect="1"/>
          </p:cNvGrpSpPr>
          <p:nvPr/>
        </p:nvGrpSpPr>
        <p:grpSpPr>
          <a:xfrm>
            <a:off x="1938655" y="711200"/>
            <a:ext cx="9144000" cy="5435600"/>
            <a:chOff x="0" y="0"/>
            <a:chExt cx="2016" cy="1152"/>
          </a:xfrm>
        </p:grpSpPr>
        <p:sp>
          <p:nvSpPr>
            <p:cNvPr id="7170" name="矩形 7170"/>
            <p:cNvSpPr>
              <a:spLocks noChangeAspect="1" noTextEdit="1"/>
            </p:cNvSpPr>
            <p:nvPr/>
          </p:nvSpPr>
          <p:spPr>
            <a:xfrm>
              <a:off x="0" y="0"/>
              <a:ext cx="2016" cy="11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171" name="_s7180"/>
            <p:cNvCxnSpPr>
              <a:stCxn id="7177" idx="3"/>
              <a:endCxn id="7174" idx="2"/>
            </p:cNvCxnSpPr>
            <p:nvPr/>
          </p:nvCxnSpPr>
          <p:spPr>
            <a:xfrm flipV="1">
              <a:off x="864" y="288"/>
              <a:ext cx="144" cy="720"/>
            </a:xfrm>
            <a:prstGeom prst="bentConnector2">
              <a:avLst/>
            </a:prstGeom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7172" name="_s7179"/>
            <p:cNvCxnSpPr>
              <a:stCxn id="7176" idx="1"/>
              <a:endCxn id="7174" idx="2"/>
            </p:cNvCxnSpPr>
            <p:nvPr/>
          </p:nvCxnSpPr>
          <p:spPr>
            <a:xfrm rot="10800000">
              <a:off x="1008" y="288"/>
              <a:ext cx="144" cy="288"/>
            </a:xfrm>
            <a:prstGeom prst="bentConnector2">
              <a:avLst/>
            </a:prstGeom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7173" name="_s7178"/>
            <p:cNvCxnSpPr>
              <a:stCxn id="7175" idx="3"/>
              <a:endCxn id="7174" idx="2"/>
            </p:cNvCxnSpPr>
            <p:nvPr/>
          </p:nvCxnSpPr>
          <p:spPr>
            <a:xfrm flipV="1">
              <a:off x="864" y="288"/>
              <a:ext cx="144" cy="288"/>
            </a:xfrm>
            <a:prstGeom prst="bentConnector2">
              <a:avLst/>
            </a:prstGeom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7174" name="_s7174"/>
            <p:cNvSpPr/>
            <p:nvPr/>
          </p:nvSpPr>
          <p:spPr>
            <a:xfrm>
              <a:off x="576" y="0"/>
              <a:ext cx="864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99C2EB"/>
                </a:gs>
              </a:gsLst>
              <a:path path="rect">
                <a:fillToRect l="100000" t="100000"/>
              </a:path>
              <a:tileRect/>
            </a:gradFill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endParaRPr lang="zh-CN" altLang="en-US" sz="4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4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单片机内部</a:t>
              </a:r>
              <a:endParaRPr lang="zh-CN" altLang="en-US" sz="4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4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三大资源</a:t>
              </a:r>
              <a:endParaRPr lang="zh-CN" altLang="en-US" sz="4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endParaRPr lang="zh-CN" altLang="en-US" sz="4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5" name="_s7175"/>
            <p:cNvSpPr/>
            <p:nvPr/>
          </p:nvSpPr>
          <p:spPr>
            <a:xfrm>
              <a:off x="0" y="432"/>
              <a:ext cx="864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99C2EB"/>
                </a:gs>
              </a:gsLst>
              <a:path path="rect">
                <a:fillToRect l="100000" t="100000"/>
              </a:path>
              <a:tileRect/>
            </a:gradFill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FLASH</a:t>
              </a:r>
              <a:endParaRPr lang="en-US" altLang="zh-CN" sz="3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（程序存储空间</a:t>
              </a:r>
              <a:endParaRPr lang="zh-CN" altLang="en-US" sz="3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&lt;ROM&gt;)</a:t>
              </a:r>
              <a:endParaRPr lang="en-US" altLang="zh-CN" sz="3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6" name="_s7176"/>
            <p:cNvSpPr/>
            <p:nvPr/>
          </p:nvSpPr>
          <p:spPr>
            <a:xfrm>
              <a:off x="1152" y="432"/>
              <a:ext cx="864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99C2EB"/>
                </a:gs>
              </a:gsLst>
              <a:path path="rect">
                <a:fillToRect l="100000" t="100000"/>
              </a:path>
              <a:tileRect/>
            </a:gradFill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RAM</a:t>
              </a:r>
              <a:r>
                <a:rPr lang="zh-CN" altLang="en-US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（内存）</a:t>
              </a:r>
              <a:endParaRPr lang="zh-CN" altLang="en-US" sz="3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7" name="_s7177"/>
            <p:cNvSpPr/>
            <p:nvPr/>
          </p:nvSpPr>
          <p:spPr>
            <a:xfrm>
              <a:off x="0" y="864"/>
              <a:ext cx="864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99C2EB"/>
                </a:gs>
              </a:gsLst>
              <a:path path="rect">
                <a:fillToRect l="100000" t="100000"/>
              </a:path>
              <a:tileRect/>
            </a:gradFill>
            <a:ln w="9525">
              <a:noFill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SFR</a:t>
              </a:r>
              <a:endParaRPr lang="en-US" altLang="zh-CN" sz="3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3100" b="1" dirty="0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（特殊功能寄存器）</a:t>
              </a:r>
              <a:endParaRPr lang="zh-CN" altLang="en-US" sz="31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单片机和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STC89C52RC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4530" y="1484630"/>
            <a:ext cx="10897870" cy="4965065"/>
          </a:xfrm>
        </p:spPr>
        <p:txBody>
          <a:bodyPr anchor="t" anchorCtr="0"/>
          <a:p>
            <a:pPr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什么是51单片机？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兼容Intel的MCS-51体系架构的一系列单片机。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STC89C52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RC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8KFLASH、512字节RAM。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1K = 1024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4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6000" dirty="0"/>
              <a:t>单片机最小系统</a:t>
            </a:r>
            <a:endParaRPr lang="zh-CN" altLang="en-US" sz="6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455660" y="1450023"/>
            <a:ext cx="2879725" cy="4895850"/>
          </a:xfrm>
        </p:spPr>
        <p:txBody>
          <a:bodyPr anchor="t" anchorCtr="0"/>
          <a:p>
            <a:pPr defTabSz="914400"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sz="1800" b="1" dirty="0"/>
          </a:p>
          <a:p>
            <a:pPr marL="0" indent="0" defTabSz="914400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特点：单片机可以运行程序，是单片机控制系统的核心。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 9219"/>
          <p:cNvGrpSpPr>
            <a:grpSpLocks noChangeAspect="1"/>
          </p:cNvGrpSpPr>
          <p:nvPr/>
        </p:nvGrpSpPr>
        <p:grpSpPr>
          <a:xfrm>
            <a:off x="2722880" y="476250"/>
            <a:ext cx="5940425" cy="7416800"/>
            <a:chOff x="0" y="0"/>
            <a:chExt cx="2359" cy="3039"/>
          </a:xfrm>
        </p:grpSpPr>
        <p:sp>
          <p:nvSpPr>
            <p:cNvPr id="9220" name="矩形 9220"/>
            <p:cNvSpPr>
              <a:spLocks noChangeAspect="1" noTextEdit="1"/>
            </p:cNvSpPr>
            <p:nvPr/>
          </p:nvSpPr>
          <p:spPr>
            <a:xfrm>
              <a:off x="0" y="0"/>
              <a:ext cx="2359" cy="303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1" name="_s9238"/>
            <p:cNvSpPr/>
            <p:nvPr/>
          </p:nvSpPr>
          <p:spPr>
            <a:xfrm flipH="1">
              <a:off x="694" y="1658"/>
              <a:ext cx="242" cy="140"/>
            </a:xfrm>
            <a:prstGeom prst="line">
              <a:avLst/>
            </a:prstGeom>
            <a:ln w="28575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2" name="_s9237"/>
            <p:cNvSpPr/>
            <p:nvPr/>
          </p:nvSpPr>
          <p:spPr>
            <a:xfrm>
              <a:off x="171" y="1658"/>
              <a:ext cx="560" cy="560"/>
            </a:xfrm>
            <a:prstGeom prst="ellipse">
              <a:avLst/>
            </a:prstGeom>
            <a:gradFill rotWithShape="1">
              <a:gsLst>
                <a:gs pos="0">
                  <a:srgbClr val="FF9997"/>
                </a:gs>
                <a:gs pos="100000">
                  <a:srgbClr val="FF6600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zh-CN" altLang="en-US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复位电路</a:t>
              </a:r>
              <a:endPara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3" name="_s9236"/>
            <p:cNvSpPr/>
            <p:nvPr/>
          </p:nvSpPr>
          <p:spPr>
            <a:xfrm>
              <a:off x="1421" y="1659"/>
              <a:ext cx="242" cy="140"/>
            </a:xfrm>
            <a:prstGeom prst="line">
              <a:avLst/>
            </a:prstGeom>
            <a:ln w="28575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4" name="_s9235"/>
            <p:cNvSpPr/>
            <p:nvPr/>
          </p:nvSpPr>
          <p:spPr>
            <a:xfrm>
              <a:off x="1626" y="1659"/>
              <a:ext cx="560" cy="560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9933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zh-CN" altLang="en-US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晶振电路</a:t>
              </a:r>
              <a:endPara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5" name="_s9234"/>
            <p:cNvSpPr/>
            <p:nvPr/>
          </p:nvSpPr>
          <p:spPr>
            <a:xfrm flipV="1">
              <a:off x="1179" y="959"/>
              <a:ext cx="0" cy="280"/>
            </a:xfrm>
            <a:prstGeom prst="line">
              <a:avLst/>
            </a:prstGeom>
            <a:ln w="28575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6" name="_s9233"/>
            <p:cNvSpPr/>
            <p:nvPr/>
          </p:nvSpPr>
          <p:spPr>
            <a:xfrm>
              <a:off x="899" y="399"/>
              <a:ext cx="560" cy="560"/>
            </a:xfrm>
            <a:prstGeom prst="ellipse">
              <a:avLst/>
            </a:prstGeom>
            <a:gradFill rotWithShape="1">
              <a:gsLst>
                <a:gs pos="0">
                  <a:srgbClr val="F9F67F"/>
                </a:gs>
                <a:gs pos="100000">
                  <a:srgbClr val="FFCC00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zh-CN" altLang="en-US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电源电路</a:t>
              </a:r>
              <a:endPara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7" name="_s9232"/>
            <p:cNvSpPr/>
            <p:nvPr/>
          </p:nvSpPr>
          <p:spPr>
            <a:xfrm>
              <a:off x="899" y="1239"/>
              <a:ext cx="560" cy="560"/>
            </a:xfrm>
            <a:prstGeom prst="ellipse">
              <a:avLst/>
            </a:prstGeom>
            <a:gradFill rotWithShape="1">
              <a:gsLst>
                <a:gs pos="0">
                  <a:srgbClr val="FFF200"/>
                </a:gs>
                <a:gs pos="100000">
                  <a:srgbClr val="4D0808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rgbClr val="54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zh-CN" altLang="en-US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三要素</a:t>
              </a:r>
              <a:endPara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355" y="0"/>
            <a:ext cx="9535795" cy="6755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15" y="430530"/>
            <a:ext cx="5144770" cy="525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585" y="556260"/>
            <a:ext cx="5484495" cy="49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SwiaGRpZCI6ImZjYWE3MzUyYmNhZWZlOTVlZTMxMGRhOGMyYTRjNGE5IiwidXNlckNvdW50Ijox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WPS 演示</Application>
  <PresentationFormat>宽屏</PresentationFormat>
  <Paragraphs>57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微软雅黑</vt:lpstr>
      <vt:lpstr>Arial Black</vt:lpstr>
      <vt:lpstr>思源黑体 CN Medium</vt:lpstr>
      <vt:lpstr>Arial Unicode MS</vt:lpstr>
      <vt:lpstr>1_Office 主题​​</vt:lpstr>
      <vt:lpstr>PowerPoint 演示文稿</vt:lpstr>
      <vt:lpstr>PowerPoint 演示文稿</vt:lpstr>
      <vt:lpstr>51单片机和STC89C52RC</vt:lpstr>
      <vt:lpstr>单片机最小系统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120</cp:revision>
  <dcterms:created xsi:type="dcterms:W3CDTF">2020-07-20T07:36:00Z</dcterms:created>
  <dcterms:modified xsi:type="dcterms:W3CDTF">2025-07-01T03:28:53Z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