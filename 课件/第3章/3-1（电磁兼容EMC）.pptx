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304" r:id="rId3"/>
    <p:sldId id="336" r:id="rId4"/>
    <p:sldId id="337" r:id="rId5"/>
    <p:sldId id="338" r:id="rId6"/>
    <p:sldId id="339" r:id="rId7"/>
    <p:sldId id="340" r:id="rId8"/>
    <p:sldId id="310" r:id="rId9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AFAFA"/>
    <a:srgbClr val="F5F5F5"/>
    <a:srgbClr val="5C64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0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ExtraLight" panose="020B0200000000000000" pitchFamily="34" charset="-122"/>
              </a:rPr>
            </a:fld>
            <a:endParaRPr lang="zh-CN" altLang="en-US">
              <a:latin typeface="思源黑体 CN ExtraLight" panose="020B0200000000000000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6903AD60-1E1B-49E5-889A-5081478A827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fld id="{41DFA862-0DC3-4474-8F9C-5AE07FF4BC8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ExtraLight" panose="020B0200000000000000" pitchFamily="34" charset="-122"/>
        <a:ea typeface="思源黑体 CN ExtraLight" panose="020B0200000000000000" pitchFamily="34" charset="-122"/>
        <a:cs typeface="思源黑体 CN ExtraLight" panose="020B0200000000000000" pitchFamily="34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4" name="图片 3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327914" flipH="1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 rot="21272086"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1252402" y="899440"/>
            <a:ext cx="9687196" cy="505912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738433" y="564500"/>
            <a:ext cx="10715134" cy="5729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056855" y="482600"/>
            <a:ext cx="4078288" cy="5937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>
                <a:solidFill>
                  <a:schemeClr val="accent2"/>
                </a:solidFill>
                <a:latin typeface="思源黑体 CN ExtraLight" panose="020B0200000000000000" pitchFamily="34" charset="-122"/>
                <a:ea typeface="思源黑体 CN ExtraLight" panose="020B0200000000000000" pitchFamily="34" charset="-122"/>
                <a:cs typeface="思源黑体 CN ExtraLight" panose="020B0200000000000000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371474" y="368300"/>
            <a:ext cx="11449051" cy="6121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1000" sy="101000" algn="ctr" rotWithShape="0">
              <a:schemeClr val="tx1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>
              <a:latin typeface="思源黑体 CN ExtraLight" panose="020B0200000000000000" pitchFamily="34" charset="-122"/>
              <a:ea typeface="思源黑体 CN ExtraLight" panose="020B0200000000000000" pitchFamily="34" charset="-122"/>
              <a:cs typeface="思源黑体 CN ExtraLight" panose="020B0200000000000000" pitchFamily="34" charset="-122"/>
            </a:endParaRPr>
          </a:p>
        </p:txBody>
      </p:sp>
      <p:pic>
        <p:nvPicPr>
          <p:cNvPr id="7" name="图片 6" descr="金沙滩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097280" cy="1097280"/>
          </a:xfrm>
          <a:prstGeom prst="rect">
            <a:avLst/>
          </a:prstGeom>
        </p:spPr>
      </p:pic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437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4417" y="6092825"/>
            <a:ext cx="2844800" cy="217488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78817" y="6092825"/>
            <a:ext cx="3860800" cy="215900"/>
          </a:xfrm>
        </p:spPr>
        <p:txBody>
          <a:bodyPr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092825"/>
            <a:ext cx="2844800" cy="215900"/>
          </a:xfrm>
        </p:spPr>
        <p:txBody>
          <a:bodyPr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2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金沙滩Log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" y="62230"/>
            <a:ext cx="1097280" cy="10972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矩形 6"/>
          <p:cNvSpPr/>
          <p:nvPr/>
        </p:nvSpPr>
        <p:spPr>
          <a:xfrm>
            <a:off x="8253730" y="0"/>
            <a:ext cx="3835400" cy="650240"/>
          </a:xfrm>
          <a:prstGeom prst="rect">
            <a:avLst/>
          </a:prstGeom>
        </p:spPr>
        <p:txBody>
          <a:bodyPr wrap="none">
            <a:noAutofit/>
          </a:bodyPr>
          <a:p>
            <a:pPr algn="ctr"/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配套书籍：手把手教你学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单片机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--C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语言版（第</a:t>
            </a:r>
            <a:r>
              <a:rPr lang="en-US" altLang="zh-CN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版）</a:t>
            </a:r>
            <a:endParaRPr lang="zh-CN" altLang="en-US" sz="2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106545" y="49593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青岛金思特电子有限公司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（金沙滩工作室）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11930" y="5709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作者：宋雪松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3510" y="2327275"/>
            <a:ext cx="1219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None/>
            </a:pP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3-1</a:t>
            </a:r>
            <a:r>
              <a:rPr lang="zh-CN" altLang="en-US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</a:t>
            </a:r>
            <a:r>
              <a:rPr 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电磁兼容</a:t>
            </a:r>
            <a:r>
              <a:rPr lang="en-US" altLang="zh-CN" sz="4000" b="1" dirty="0">
                <a:solidFill>
                  <a:srgbClr val="FF33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(EMC)</a:t>
            </a:r>
            <a:endParaRPr lang="en-US" altLang="zh-CN" sz="40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41400" y="5080"/>
            <a:ext cx="67678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回馈社会，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全面开源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所有资料。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“Kingst51”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开发板以</a:t>
            </a:r>
            <a:r>
              <a:rPr lang="en-US" altLang="zh-CN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利润成本价销售（公开完整</a:t>
            </a:r>
            <a:r>
              <a:rPr lang="zh-CN" altLang="en-US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成本清单）</a:t>
            </a:r>
            <a:endParaRPr lang="zh-CN" altLang="en-US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35" y="3255645"/>
            <a:ext cx="121913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关注各大直播平台：金沙滩电子课堂，直播授课答疑</a:t>
            </a:r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324485"/>
            <a:ext cx="12192635" cy="801370"/>
          </a:xfrm>
        </p:spPr>
        <p:txBody>
          <a:bodyPr anchor="ctr" anchorCtr="0"/>
          <a:p>
            <a:pPr algn="ctr"/>
            <a:r>
              <a:rPr lang="zh-CN" altLang="en-US" sz="4000" dirty="0">
                <a:latin typeface="黑体" panose="02010609060101010101" charset="-122"/>
                <a:ea typeface="黑体" panose="02010609060101010101" charset="-122"/>
              </a:rPr>
              <a:t>背景</a:t>
            </a:r>
            <a:endParaRPr lang="zh-CN" altLang="en-US" sz="4000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57860" y="1125855"/>
            <a:ext cx="11325860" cy="556006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lvl="0" indent="-3429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n"/>
              <a:defRPr sz="24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lvl="1" indent="-28575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l"/>
              <a:defRPr sz="20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lvl="2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•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lvl="3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–"/>
              <a:defRPr sz="18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lvl="4" indent="-228600" algn="l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–"/>
              <a:defRPr sz="160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en-US" altLang="zh-CN" b="1"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b="1">
                <a:latin typeface="宋体" panose="02010600030101010101" pitchFamily="2" charset="-122"/>
                <a:cs typeface="宋体" panose="02010600030101010101" pitchFamily="2" charset="-122"/>
              </a:rPr>
              <a:t>、冬天的时候，空气比较干燥的城市，朋友们经常对电脑，铁柜等等放电，这就是“静电放电</a:t>
            </a:r>
            <a:r>
              <a:rPr lang="en-US" altLang="zh-CN" b="1">
                <a:latin typeface="宋体" panose="02010600030101010101" pitchFamily="2" charset="-122"/>
                <a:cs typeface="宋体" panose="02010600030101010101" pitchFamily="2" charset="-122"/>
              </a:rPr>
              <a:t>(ESD)”</a:t>
            </a:r>
            <a:r>
              <a:rPr lang="zh-CN" altLang="en-US" b="1">
                <a:latin typeface="宋体" panose="02010600030101010101" pitchFamily="2" charset="-122"/>
                <a:cs typeface="宋体" panose="02010600030101010101" pitchFamily="2" charset="-122"/>
              </a:rPr>
              <a:t>干扰。</a:t>
            </a:r>
            <a:endParaRPr lang="zh-CN" altLang="en-US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lvl="0"/>
            <a:endParaRPr lang="zh-CN" altLang="en-US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lvl="0"/>
            <a:r>
              <a:rPr lang="en-US" altLang="zh-CN" b="1">
                <a:latin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b="1">
                <a:latin typeface="宋体" panose="02010600030101010101" pitchFamily="2" charset="-122"/>
                <a:cs typeface="宋体" panose="02010600030101010101" pitchFamily="2" charset="-122"/>
              </a:rPr>
              <a:t>、使用电钻这种带电机的设备的工作时，电视会有干扰或者影响，这就是“快速瞬间脉冲群</a:t>
            </a:r>
            <a:r>
              <a:rPr lang="en-US" altLang="zh-CN" b="1">
                <a:latin typeface="宋体" panose="02010600030101010101" pitchFamily="2" charset="-122"/>
                <a:cs typeface="宋体" panose="02010600030101010101" pitchFamily="2" charset="-122"/>
              </a:rPr>
              <a:t>(EFT)”</a:t>
            </a:r>
            <a:r>
              <a:rPr lang="zh-CN" altLang="en-US" b="1">
                <a:latin typeface="宋体" panose="02010600030101010101" pitchFamily="2" charset="-122"/>
                <a:cs typeface="宋体" panose="02010600030101010101" pitchFamily="2" charset="-122"/>
              </a:rPr>
              <a:t>的效果。</a:t>
            </a:r>
            <a:endParaRPr lang="zh-CN" altLang="en-US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lvl="0">
              <a:buNone/>
            </a:pPr>
            <a:endParaRPr lang="zh-CN" altLang="en-US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lvl="0"/>
            <a:r>
              <a:rPr lang="en-US" altLang="zh-CN" b="1">
                <a:latin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b="1">
                <a:latin typeface="宋体" panose="02010600030101010101" pitchFamily="2" charset="-122"/>
                <a:cs typeface="宋体" panose="02010600030101010101" pitchFamily="2" charset="-122"/>
              </a:rPr>
              <a:t>、雷电引起的电视或者电脑的重启死机甚至损坏，这就是“浪涌</a:t>
            </a:r>
            <a:r>
              <a:rPr lang="en-US" altLang="zh-CN" b="1">
                <a:latin typeface="宋体" panose="02010600030101010101" pitchFamily="2" charset="-122"/>
                <a:cs typeface="宋体" panose="02010600030101010101" pitchFamily="2" charset="-122"/>
              </a:rPr>
              <a:t>(Surge)</a:t>
            </a:r>
            <a:r>
              <a:rPr lang="zh-CN" altLang="en-US" b="1">
                <a:latin typeface="宋体" panose="02010600030101010101" pitchFamily="2" charset="-122"/>
                <a:cs typeface="宋体" panose="02010600030101010101" pitchFamily="2" charset="-122"/>
              </a:rPr>
              <a:t>的效果。</a:t>
            </a:r>
            <a:endParaRPr lang="zh-CN" altLang="en-US" b="1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lvl="0"/>
            <a:endParaRPr lang="zh-CN" altLang="en-US" sz="3200" b="1"/>
          </a:p>
          <a:p>
            <a:pPr lvl="0"/>
            <a:r>
              <a:rPr lang="zh-CN" altLang="en-US" sz="3200" b="1">
                <a:solidFill>
                  <a:srgbClr val="0000FF"/>
                </a:solidFill>
              </a:rPr>
              <a:t>电磁兼容（</a:t>
            </a:r>
            <a:r>
              <a:rPr lang="en-US" altLang="zh-CN" sz="3200" b="1">
                <a:solidFill>
                  <a:srgbClr val="0000FF"/>
                </a:solidFill>
              </a:rPr>
              <a:t>EMC</a:t>
            </a:r>
            <a:r>
              <a:rPr lang="zh-CN" altLang="en-US" sz="3200" b="1">
                <a:solidFill>
                  <a:srgbClr val="0000FF"/>
                </a:solidFill>
              </a:rPr>
              <a:t>）：指电子设备或者系统在特定电磁环境中正常工作的能力，同时不会对其他设备或环境产生不可接受的电磁干扰。</a:t>
            </a:r>
            <a:endParaRPr lang="zh-CN" altLang="en-US" sz="3200" b="1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4000">
                <a:latin typeface="黑体" panose="02010609060101010101" charset="-122"/>
                <a:ea typeface="黑体" panose="02010609060101010101" charset="-122"/>
              </a:rPr>
              <a:t>低频滤波电容</a:t>
            </a:r>
            <a:endParaRPr lang="zh-CN" altLang="en-US" sz="400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47165" y="1296670"/>
            <a:ext cx="10238740" cy="2207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低频滤波电容的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作用：</a:t>
            </a:r>
            <a:endParaRPr lang="en-US" altLang="zh-CN" sz="28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、缓冲作用</a:t>
            </a:r>
            <a:endParaRPr lang="zh-CN" altLang="en-US" sz="28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、稳定作用</a:t>
            </a:r>
            <a:endParaRPr lang="zh-CN" altLang="en-US" sz="28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zh-CN" altLang="en-US" sz="28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选取要素：容值和耐压值</a:t>
            </a:r>
            <a:endParaRPr lang="zh-CN" altLang="en-US" sz="28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99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0605" y="3242310"/>
            <a:ext cx="6553200" cy="2820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标题 13313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sz="3600" dirty="0"/>
              <a:t>低频滤波电容</a:t>
            </a:r>
            <a:endParaRPr lang="zh-CN" altLang="en-US" sz="3600" dirty="0"/>
          </a:p>
        </p:txBody>
      </p:sp>
      <p:pic>
        <p:nvPicPr>
          <p:cNvPr id="9220" name="图片 92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5780" y="1429385"/>
            <a:ext cx="4706620" cy="48418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09600" y="1506220"/>
            <a:ext cx="609600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低频滤波电容，平常应用最多的是钽电容，电解电容，陶瓷电容，起到去除电源低频纹波，稳定电源的作用。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272540" y="981075"/>
            <a:ext cx="5621020" cy="26835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高频滤波电容，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IC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电源附近，通常用104电容来进行去除高频干扰。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100nf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0.1uf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lang="en-US" altLang="zh-CN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电容名称：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10x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，即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10*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10</a:t>
            </a:r>
            <a:r>
              <a:rPr lang="en-US" altLang="zh-CN" sz="3200" b="1" baseline="30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x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pf</a:t>
            </a:r>
            <a:endParaRPr lang="zh-CN" altLang="en-US" sz="32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 sz="32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4000">
                <a:latin typeface="黑体" panose="02010609060101010101" charset="-122"/>
                <a:ea typeface="黑体" panose="02010609060101010101" charset="-122"/>
              </a:rPr>
              <a:t>高频滤波电容</a:t>
            </a:r>
            <a:endParaRPr lang="zh-CN" altLang="en-US" sz="400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35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450" y="3329940"/>
            <a:ext cx="5440680" cy="3287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2735" y="1945640"/>
            <a:ext cx="5491480" cy="48367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1272540" y="981075"/>
            <a:ext cx="3415030" cy="53498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32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尤其工业产品，</a:t>
            </a:r>
            <a:r>
              <a:rPr 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IC</a:t>
            </a:r>
            <a:r>
              <a:rPr lang="zh-CN" altLang="en-US" sz="2800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高频去耦电容，要尽可能短的距离将正极和负极桥连起来。</a:t>
            </a:r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endParaRPr lang="zh-CN" altLang="en-US" sz="2800"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多组电源的</a:t>
            </a:r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IC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，每一组电源都要尽可能短的用</a:t>
            </a:r>
            <a:r>
              <a:rPr lang="en-US" altLang="zh-CN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104</a:t>
            </a:r>
            <a:r>
              <a:rPr lang="zh-CN" altLang="en-US" sz="2800" b="1" dirty="0">
                <a:solidFill>
                  <a:srgbClr val="0000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桥连，不走过长的线和过孔。</a:t>
            </a:r>
            <a:endParaRPr lang="zh-CN" altLang="en-US" sz="2800" b="1" dirty="0">
              <a:solidFill>
                <a:srgbClr val="0000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 anchor="ctr" anchorCtr="0"/>
          <a:p>
            <a:pPr algn="ctr"/>
            <a:r>
              <a:rPr lang="zh-CN" altLang="en-US" sz="4000">
                <a:latin typeface="黑体" panose="02010609060101010101" charset="-122"/>
                <a:ea typeface="黑体" panose="02010609060101010101" charset="-122"/>
              </a:rPr>
              <a:t>高频滤波电容使用注意事项（工程经验）</a:t>
            </a:r>
            <a:endParaRPr lang="zh-CN" altLang="en-US" sz="400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9870" y="1739265"/>
            <a:ext cx="5539105" cy="35388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-635" y="906145"/>
            <a:ext cx="12192635" cy="36652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ctr" fontAlgn="base">
              <a:lnSpc>
                <a:spcPct val="150000"/>
              </a:lnSpc>
            </a:pPr>
            <a:r>
              <a:rPr lang="zh-CN" altLang="en-US" sz="36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金沙滩工作室业务介绍</a:t>
            </a:r>
            <a:endParaRPr lang="zh-CN" altLang="en-US" sz="36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  <a:sym typeface="+mn-ea"/>
            </a:endParaRPr>
          </a:p>
          <a:p>
            <a:pPr indent="0" algn="ctr" fontAlgn="base">
              <a:lnSpc>
                <a:spcPct val="150000"/>
              </a:lnSpc>
            </a:pPr>
            <a:r>
              <a:rPr lang="en-US" altLang="zh-CN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         </a:t>
            </a: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金沙滩工作室：单片机嵌入式教学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青岛金思特电子有限公司：逻辑分析仪、智能仪器</a:t>
            </a:r>
            <a:endParaRPr lang="en-US" altLang="zh-CN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r>
              <a:rPr lang="zh-CN" altLang="en-US" sz="3200" b="1">
                <a:solidFill>
                  <a:srgbClr val="0000FF"/>
                </a:solidFill>
                <a:effectLst/>
                <a:latin typeface="Arial Black" panose="020B0A04020102020204" charset="0"/>
                <a:ea typeface="Arial Black" panose="020B0A04020102020204" charset="0"/>
                <a:sym typeface="+mn-ea"/>
              </a:rPr>
              <a:t>青岛方寸间智能科技有限公司：五子棋、围棋智能电子棋盘</a:t>
            </a: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  <a:p>
            <a:pPr indent="0" algn="ctr" fontAlgn="base">
              <a:lnSpc>
                <a:spcPct val="150000"/>
              </a:lnSpc>
            </a:pPr>
            <a:endParaRPr lang="zh-CN" altLang="en-US" sz="3200" b="1" strike="noStrike" noProof="1">
              <a:solidFill>
                <a:srgbClr val="0000FF"/>
              </a:solidFill>
              <a:effectLst/>
              <a:latin typeface="Arial Black" panose="020B0A04020102020204" charset="0"/>
              <a:ea typeface="Arial Black" panose="020B0A0402010202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jb3VudCI6MiwiaGRpZCI6ImZjYWE3MzUyYmNhZWZlOTVlZTMxMGRhOGMyYTRjNGE5IiwidXNlckNvdW50Ijoy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黑体">
      <a:majorFont>
        <a:latin typeface="思源黑体 CN Medium"/>
        <a:ea typeface="思源黑体 CN Medium"/>
        <a:cs typeface=""/>
      </a:majorFont>
      <a:minorFont>
        <a:latin typeface="思源黑体 CN ExtraLight"/>
        <a:ea typeface="思源黑体 CN Extra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ExtraLight"/>
        <a:ea typeface=""/>
        <a:cs typeface=""/>
        <a:font script="Jpan" typeface="ＭＳ Ｐゴシック"/>
        <a:font script="Hang" typeface="맑은 고딕"/>
        <a:font script="Hans" typeface="思源黑体 CN ExtraLight"/>
        <a:font script="Hant" typeface="新細明體"/>
        <a:font script="Arab" typeface="思源黑体 CN ExtraLight"/>
        <a:font script="Hebr" typeface="思源黑体 CN ExtraLight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 ExtraLight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709</Words>
  <Application>WPS 演示</Application>
  <PresentationFormat>宽屏</PresentationFormat>
  <Paragraphs>56</Paragraphs>
  <Slides>7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宋体</vt:lpstr>
      <vt:lpstr>Wingdings</vt:lpstr>
      <vt:lpstr>思源黑体 CN ExtraLight</vt:lpstr>
      <vt:lpstr>黑体</vt:lpstr>
      <vt:lpstr>微软雅黑</vt:lpstr>
      <vt:lpstr>Arial Black</vt:lpstr>
      <vt:lpstr>Arial Unicode MS</vt:lpstr>
      <vt:lpstr>思源黑体 CN Medium</vt:lpstr>
      <vt:lpstr>1_Office 主题​​</vt:lpstr>
      <vt:lpstr>PowerPoint 演示文稿</vt:lpstr>
      <vt:lpstr>背景</vt:lpstr>
      <vt:lpstr>低频滤波电容</vt:lpstr>
      <vt:lpstr>低频滤波电容</vt:lpstr>
      <vt:lpstr>高频滤波电容</vt:lpstr>
      <vt:lpstr>高频滤波电容使用注意事项（工程经验）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ccs</cp:lastModifiedBy>
  <cp:revision>137</cp:revision>
  <dcterms:created xsi:type="dcterms:W3CDTF">2020-07-20T07:36:00Z</dcterms:created>
  <dcterms:modified xsi:type="dcterms:W3CDTF">2025-07-01T05:18:54Z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v1.0_mb_iCO9wmVySDXo1sQXpH0/SQ==</vt:lpwstr>
  </property>
  <property fmtid="{D5CDD505-2E9C-101B-9397-08002B2CF9AE}" pid="4" name="ICV">
    <vt:lpwstr>91E6A3D7EBBA4D7D8574D3294ECBBD5D_13</vt:lpwstr>
  </property>
</Properties>
</file>