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04" r:id="rId3"/>
    <p:sldId id="364" r:id="rId4"/>
    <p:sldId id="365" r:id="rId5"/>
    <p:sldId id="366" r:id="rId6"/>
    <p:sldId id="367" r:id="rId7"/>
    <p:sldId id="368" r:id="rId8"/>
    <p:sldId id="369" r:id="rId9"/>
    <p:sldId id="310" r:id="rId10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992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13-1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：温度传感器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DS18B20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读写时序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温度传感器DS18B20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3316" name="图片 133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5423" y="1323023"/>
            <a:ext cx="3684587" cy="1647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7" name="图片 133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240" y="3428683"/>
            <a:ext cx="4857750" cy="3200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425" y="987425"/>
            <a:ext cx="1755140" cy="2441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初始化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4339" name="图片 143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" y="1525905"/>
            <a:ext cx="7247255" cy="34550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195185" y="1748155"/>
            <a:ext cx="5080000" cy="3362325"/>
          </a:xfrm>
          <a:prstGeom prst="rect">
            <a:avLst/>
          </a:prstGeom>
        </p:spPr>
        <p:txBody>
          <a:bodyPr>
            <a:noAutofit/>
          </a:bodyPr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bit Get18B20Ack()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{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bit ack;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endParaRPr lang="en-US" altLang="zh-CN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EA = 0; 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禁止总中断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IO_18B20 = 0;    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产生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500us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复位脉冲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DelayX10us(50);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IO_18B20 = 1;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DelayX10us(6);   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延时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60us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ack = IO_18B20;  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读取存在脉冲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while(!IO_18B20); 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等待存在脉冲结束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EA = 1; 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重新使能总中断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endParaRPr lang="en-US" altLang="zh-CN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return ack;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}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DS18B20操作指令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56815" y="1213485"/>
            <a:ext cx="7298690" cy="1928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1、Skip ROM：0xCC。当总线上只有一个器件的时候，可以直接跳过ROM，不进行ROM检测。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2、Read Scratchpad：0xBE.          读暂存寄存器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 fontAlgn="auto">
              <a:lnSpc>
                <a:spcPct val="120000"/>
              </a:lnSpc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个字节，先读取的是低字节的低位。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 fontAlgn="auto">
              <a:lnSpc>
                <a:spcPct val="120000"/>
              </a:lnSpc>
            </a:pP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、Convert Temperature：0x44    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启动温度转换</a:t>
            </a:r>
            <a:r>
              <a:rPr lang="zh-CN" altLang="en-US" sz="13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   </a:t>
            </a:r>
            <a:endParaRPr lang="zh-CN" altLang="en-US" sz="13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5364" name="图片 153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318" y="3556318"/>
            <a:ext cx="5332412" cy="23764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DS18B20的位写时序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6387" name="图片 163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5090"/>
            <a:ext cx="6842125" cy="2781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712585" y="1151890"/>
            <a:ext cx="4788535" cy="4693920"/>
          </a:xfrm>
          <a:prstGeom prst="rect">
            <a:avLst/>
          </a:prstGeom>
        </p:spPr>
        <p:txBody>
          <a:bodyPr wrap="square">
            <a:noAutofit/>
          </a:bodyPr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Write18B20(unsigned char dat)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unsigned char mask;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EA = 0;   //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禁止总中断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for (mask=0x01; mask!=0; mask&lt;&lt;=1)  //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低位在先，依次移出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bit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{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IO_18B20 = 0;          //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产生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2us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低电平脉冲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_nop_();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_nop_();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if ((mask&amp;dat) == 0)  //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输出该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值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    IO_18B20 = 0;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else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    IO_18B20 = 1;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DelayX10us(6);        //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延时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60us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IO_18B20 = 1;         //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拉高通信引脚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}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EA = 1;   //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重新使能总中断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DS18B20的位读时序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6388" name="图片 163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49705"/>
            <a:ext cx="6208395" cy="25660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208395" y="878840"/>
            <a:ext cx="5917565" cy="5978525"/>
          </a:xfrm>
          <a:prstGeom prst="rect">
            <a:avLst/>
          </a:prstGeom>
        </p:spPr>
        <p:txBody>
          <a:bodyPr>
            <a:noAutofit/>
          </a:bodyPr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unsigned char Read18B20()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{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unsigned char dat;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unsigned char mask;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endParaRPr lang="en-US" altLang="zh-CN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EA = 0; 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禁止总中断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for (mask=0x01; mask!=0; mask&lt;&lt;=1) 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低位在先，依次采集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8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个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bit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{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IO_18B20 = 0;       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产生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2us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低电平脉冲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_nop_();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_nop_();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IO_18B20 = 1;       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结束低电平脉冲，等待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18B20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输出数据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_nop_();             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延时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2us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_nop_();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if (!IO_18B20)      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读取通信引脚上的值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dat &amp;= ~mask;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else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dat |= mask;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DelayX10us(6);      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再延时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60us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}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EA = 1; 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重新使能总中断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</a:t>
            </a:r>
            <a:endParaRPr lang="en-US" altLang="zh-CN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return dat;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  <a:p>
            <a:pPr indent="0" algn="just" defTabSz="266700" fontAlgn="auto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}</a:t>
            </a:r>
            <a:endParaRPr lang="en-US" altLang="zh-CN" sz="1600">
              <a:latin typeface="Courier New" panose="02070309020205020404"/>
              <a:ea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小数部分的处理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04315" y="1329690"/>
            <a:ext cx="8832215" cy="2529840"/>
          </a:xfrm>
          <a:prstGeom prst="rect">
            <a:avLst/>
          </a:prstGeom>
        </p:spPr>
        <p:txBody>
          <a:bodyPr>
            <a:noAutofit/>
          </a:bodyPr>
          <a:p>
            <a:pPr marL="914400" lvl="2" indent="45720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     intT = temp &gt;&gt; 4;     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分离出温度值整数部分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decT = temp &amp; 0xF;     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分离出温度值小数部分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             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decT = (decT*10) / 16;  //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二进制的小数部分转换为</a:t>
            </a:r>
            <a:r>
              <a:rPr lang="en-US" altLang="zh-CN" sz="1600">
                <a:latin typeface="Courier New" panose="02070309020205020404"/>
                <a:ea typeface="Courier New" panose="02070309020205020404"/>
              </a:rPr>
              <a:t>1</a:t>
            </a:r>
            <a:r>
              <a:rPr lang="zh-CN" altLang="en-US" sz="1600">
                <a:latin typeface="Courier New" panose="02070309020205020404"/>
                <a:ea typeface="宋体" panose="02010600030101010101" pitchFamily="2" charset="-122"/>
              </a:rPr>
              <a:t>位十进制位</a:t>
            </a:r>
            <a:endParaRPr lang="zh-CN" altLang="en-US" sz="1600">
              <a:latin typeface="Courier New" panose="020703090202050204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1862</Words>
  <Application>WPS 演示</Application>
  <PresentationFormat>宽屏</PresentationFormat>
  <Paragraphs>107</Paragraphs>
  <Slides>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思源黑体 CN ExtraLight</vt:lpstr>
      <vt:lpstr>黑体</vt:lpstr>
      <vt:lpstr>微软雅黑</vt:lpstr>
      <vt:lpstr>Courier New</vt:lpstr>
      <vt:lpstr>Arial Black</vt:lpstr>
      <vt:lpstr>Arial Unicode MS</vt:lpstr>
      <vt:lpstr>思源黑体 CN Medium</vt:lpstr>
      <vt:lpstr>1_Office 主题​​</vt:lpstr>
      <vt:lpstr>PowerPoint 演示文稿</vt:lpstr>
      <vt:lpstr>温度传感器DS18B20</vt:lpstr>
      <vt:lpstr>初始化</vt:lpstr>
      <vt:lpstr>DS18B20操作指令</vt:lpstr>
      <vt:lpstr>DS18B20的位写时序</vt:lpstr>
      <vt:lpstr>DS18B20的位读时序</vt:lpstr>
      <vt:lpstr>小数部分的处理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157</cp:revision>
  <dcterms:created xsi:type="dcterms:W3CDTF">2020-07-20T07:36:00Z</dcterms:created>
  <dcterms:modified xsi:type="dcterms:W3CDTF">2025-07-01T09:23:07Z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