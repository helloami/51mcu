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04" r:id="rId3"/>
    <p:sldId id="370" r:id="rId4"/>
    <p:sldId id="369" r:id="rId5"/>
    <p:sldId id="371" r:id="rId6"/>
    <p:sldId id="372" r:id="rId7"/>
    <p:sldId id="373" r:id="rId8"/>
    <p:sldId id="374" r:id="rId9"/>
    <p:sldId id="375" r:id="rId10"/>
    <p:sldId id="310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373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14-1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：复合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数据类型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8" name="左大括号 6147"/>
          <p:cNvSpPr/>
          <p:nvPr/>
        </p:nvSpPr>
        <p:spPr>
          <a:xfrm>
            <a:off x="2465388" y="1664970"/>
            <a:ext cx="936625" cy="3527425"/>
          </a:xfrm>
          <a:prstGeom prst="leftBrace">
            <a:avLst>
              <a:gd name="adj1" fmla="val 31349"/>
              <a:gd name="adj2" fmla="val 50000"/>
            </a:avLst>
          </a:prstGeom>
          <a:noFill/>
          <a:ln w="635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1" name="文本框 6150"/>
          <p:cNvSpPr txBox="1"/>
          <p:nvPr/>
        </p:nvSpPr>
        <p:spPr>
          <a:xfrm>
            <a:off x="3227705" y="2032000"/>
            <a:ext cx="74358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LED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小灯：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个字节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文本框 6152"/>
          <p:cNvSpPr txBox="1"/>
          <p:nvPr/>
        </p:nvSpPr>
        <p:spPr>
          <a:xfrm>
            <a:off x="3227705" y="3235643"/>
            <a:ext cx="57594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LED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数码管：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个字节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27705" y="4439920"/>
            <a:ext cx="75234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LED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点阵：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个字节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文本框 6146"/>
          <p:cNvSpPr txBox="1"/>
          <p:nvPr/>
        </p:nvSpPr>
        <p:spPr>
          <a:xfrm>
            <a:off x="1791335" y="2500630"/>
            <a:ext cx="613410" cy="193929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LED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显示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95370" y="367983"/>
            <a:ext cx="5759450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结构体数据类型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结构体声明格式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313180"/>
            <a:ext cx="5340985" cy="5295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声明结构体变量的格式一：</a:t>
            </a:r>
            <a:r>
              <a:rPr lang="zh-CN" altLang="en-US">
                <a:solidFill>
                  <a:srgbClr val="FF0000"/>
                </a:solidFill>
                <a:latin typeface="Courier New" panose="02070309020205020404"/>
                <a:ea typeface="宋体" panose="02010600030101010101" pitchFamily="2" charset="-122"/>
                <a:sym typeface="+mn-ea"/>
              </a:rPr>
              <a:t>不推荐</a:t>
            </a:r>
            <a:endParaRPr lang="zh-CN" altLang="en-US">
              <a:latin typeface="Courier New" panose="02070309020205020404"/>
              <a:ea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    struct 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结构体名</a:t>
            </a:r>
            <a:endParaRPr lang="zh-CN" altLang="en-US">
              <a:latin typeface="Courier New" panose="02070309020205020404"/>
              <a:ea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    {</a:t>
            </a:r>
            <a:endParaRPr lang="en-US" altLang="zh-CN">
              <a:latin typeface="Courier New" panose="02070309020205020404"/>
              <a:ea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类型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1 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变量名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1;</a:t>
            </a:r>
            <a:endParaRPr lang="en-US" altLang="zh-CN">
              <a:latin typeface="Courier New" panose="02070309020205020404"/>
              <a:ea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类型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2 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变量名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2;</a:t>
            </a:r>
            <a:endParaRPr lang="en-US" altLang="zh-CN">
              <a:latin typeface="Courier New" panose="02070309020205020404"/>
              <a:ea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        ……</a:t>
            </a:r>
            <a:endParaRPr lang="en-US" altLang="zh-CN">
              <a:latin typeface="Courier New" panose="02070309020205020404"/>
              <a:ea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类型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n 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变量名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n;</a:t>
            </a:r>
            <a:endParaRPr lang="en-US" altLang="zh-CN">
              <a:latin typeface="Courier New" panose="02070309020205020404"/>
              <a:ea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    }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结构体变量名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1,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结构体变量名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2, ... </a:t>
            </a: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结构体变量名</a:t>
            </a:r>
            <a:r>
              <a:rPr lang="en-US" altLang="zh-CN">
                <a:latin typeface="Courier New" panose="02070309020205020404"/>
                <a:ea typeface="宋体" panose="02010600030101010101" pitchFamily="2" charset="-122"/>
                <a:sym typeface="+mn-ea"/>
              </a:rPr>
              <a:t>n;</a:t>
            </a:r>
            <a:endParaRPr lang="en-US" altLang="zh-CN">
              <a:latin typeface="Courier New" panose="02070309020205020404"/>
              <a:ea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67985" y="1252220"/>
            <a:ext cx="5340985" cy="5295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Courier New" panose="02070309020205020404"/>
                <a:ea typeface="宋体" panose="02010600030101010101" pitchFamily="2" charset="-122"/>
                <a:sym typeface="+mn-ea"/>
              </a:rPr>
              <a:t>声明结构体变量的格式二：</a:t>
            </a:r>
            <a:r>
              <a:rPr lang="zh-CN" altLang="en-US">
                <a:solidFill>
                  <a:srgbClr val="FF0000"/>
                </a:solidFill>
                <a:latin typeface="Courier New" panose="02070309020205020404"/>
                <a:ea typeface="宋体" panose="02010600030101010101" pitchFamily="2" charset="-122"/>
                <a:sym typeface="+mn-ea"/>
              </a:rPr>
              <a:t>推荐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struct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结构体名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……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};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struct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结构体变量名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结构体变量名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2, ...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结构体变量名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构建一个结构体类型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238250"/>
            <a:ext cx="12161520" cy="5323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struct sLedBuff {  //LED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显示缓冲区结构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		unsigned char array[8];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点阵缓冲区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		unsigned char number[6];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数码管缓冲区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		unsigned char single;  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独立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缓冲区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struct sLedBuff ledBuff;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struct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是结构体类型关键字，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sLedBuff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是这个结构体名字。一旦结构体构建完成，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sLedBuff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起到的作用和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unsigned char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类似，是表达变量类型的。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ledBuff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keyBuff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类似，即定义了一个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sLedBuff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类型的结构体变量。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3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结构体变量成员赋值的方法：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4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ledBuff.single = 0xFF;  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ledBuff.array[0] = 0xFF;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3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3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结构指针变量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158240"/>
            <a:ext cx="12192635" cy="5323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结构指针变量声明的一般形式如下：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struct sLedBuff *pledBuff;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结构体指针对结构体成员的访问表达式为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pledBuff -&gt;single= 0xFF; 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（推荐）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或者是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(*pledBuff).single= 0xFF;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98775" y="368300"/>
            <a:ext cx="64560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共用体数据类型（不推荐使用）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070" y="1228725"/>
            <a:ext cx="10958830" cy="5030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union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共用体名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数据类型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数据类型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……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数据类型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};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union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共用体名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共用体变量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共用体表示的是几个变量共用一个内存位置，也就是成员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、成员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2……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都用一个内存位置。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成员访问的方式是：共用体名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成员名，使用指针来访问的方式是：共用体名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-&gt;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成员名。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98775" y="368300"/>
            <a:ext cx="64560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枚举体数据类型</a:t>
            </a:r>
            <a:endParaRPr lang="zh-CN" altLang="en-US" sz="3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070" y="1228725"/>
            <a:ext cx="10958830" cy="5030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enum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枚举名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{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1[=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整型常数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2[=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整型常数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……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标识符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n[=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整型常数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};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enum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枚举名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枚举变量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枚举的说明形式中，如果没有被初始化，那么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“=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整型常数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是可以被省略的，如果是默认值的话，从第一个标识符顺序赋值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2……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，但是当枚举中任何一个成员被赋值后，它后边的成员按照依次加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的规则确定数值。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构建一个枚举体类型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238250"/>
            <a:ext cx="12161520" cy="5323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enum eStaSystem {   //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系统运行状态枚举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	 	E_NORMAL, E_SET_ACT, E_SET_ALARM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枚举的使用，有几点要注意：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）枚举中每个成员结束符是逗号，而不是分号，最后一个成员可以省略逗号。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）枚举成员的初始化值可以是负数，但是后边的成员依然依次加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2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）枚举变量只能取枚举结构中的某个标识符常量，不可以在范围之外。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3" indent="457200" algn="l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1723</Words>
  <Application>WPS 演示</Application>
  <PresentationFormat>宽屏</PresentationFormat>
  <Paragraphs>115</Paragraphs>
  <Slides>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思源黑体 CN ExtraLight</vt:lpstr>
      <vt:lpstr>黑体</vt:lpstr>
      <vt:lpstr>微软雅黑</vt:lpstr>
      <vt:lpstr>Courier New</vt:lpstr>
      <vt:lpstr>Arial Black</vt:lpstr>
      <vt:lpstr>Arial Unicode MS</vt:lpstr>
      <vt:lpstr>思源黑体 CN Medium</vt:lpstr>
      <vt:lpstr>1_Office 主题​​</vt:lpstr>
      <vt:lpstr>PowerPoint 演示文稿</vt:lpstr>
      <vt:lpstr>PowerPoint 演示文稿</vt:lpstr>
      <vt:lpstr>结构体声明格式</vt:lpstr>
      <vt:lpstr>构建一个结构体类型</vt:lpstr>
      <vt:lpstr>结构指针变量</vt:lpstr>
      <vt:lpstr>PowerPoint 演示文稿</vt:lpstr>
      <vt:lpstr>PowerPoint 演示文稿</vt:lpstr>
      <vt:lpstr>构建一个枚举体类型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162</cp:revision>
  <dcterms:created xsi:type="dcterms:W3CDTF">2020-07-20T07:36:00Z</dcterms:created>
  <dcterms:modified xsi:type="dcterms:W3CDTF">2025-07-01T09:29:27Z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