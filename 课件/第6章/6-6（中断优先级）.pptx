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31" r:id="rId3"/>
    <p:sldId id="346" r:id="rId4"/>
    <p:sldId id="352" r:id="rId5"/>
    <p:sldId id="353" r:id="rId6"/>
    <p:sldId id="348" r:id="rId7"/>
    <p:sldId id="356" r:id="rId8"/>
    <p:sldId id="349" r:id="rId9"/>
    <p:sldId id="354" r:id="rId10"/>
    <p:sldId id="310" r:id="rId11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611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6-6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：中断优先级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945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>
                <a:latin typeface="黑体" panose="02010609060101010101" charset="-122"/>
                <a:ea typeface="黑体" panose="02010609060101010101" charset="-122"/>
              </a:rPr>
              <a:t>中断优先级</a:t>
            </a:r>
            <a:endParaRPr lang="zh-CN" altLang="en-US" sz="36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56335" y="1242695"/>
            <a:ext cx="9903460" cy="3392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抢占优先级和固有优先级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文本框 22529"/>
          <p:cNvSpPr txBox="1"/>
          <p:nvPr/>
        </p:nvSpPr>
        <p:spPr>
          <a:xfrm>
            <a:off x="-635" y="405130"/>
            <a:ext cx="121932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IP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—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中断优先级寄存器的位分配（地址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0xB8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、可位寻址）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22531" name="表格 22530"/>
          <p:cNvGraphicFramePr/>
          <p:nvPr/>
        </p:nvGraphicFramePr>
        <p:xfrm>
          <a:off x="1703705" y="1037590"/>
          <a:ext cx="8783638" cy="1406525"/>
        </p:xfrm>
        <a:graphic>
          <a:graphicData uri="http://schemas.openxmlformats.org/drawingml/2006/table">
            <a:tbl>
              <a:tblPr/>
              <a:tblGrid>
                <a:gridCol w="976313"/>
                <a:gridCol w="976312"/>
                <a:gridCol w="974725"/>
                <a:gridCol w="974725"/>
                <a:gridCol w="974725"/>
                <a:gridCol w="977900"/>
                <a:gridCol w="973138"/>
                <a:gridCol w="976312"/>
                <a:gridCol w="979488"/>
              </a:tblGrid>
              <a:tr h="3968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7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6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5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4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3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063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符号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--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--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PT2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PS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PT1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PX1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PT0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PX0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587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复位值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--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--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625" name="文本框 22624"/>
          <p:cNvSpPr txBox="1"/>
          <p:nvPr/>
        </p:nvSpPr>
        <p:spPr>
          <a:xfrm>
            <a:off x="-635" y="2505075"/>
            <a:ext cx="121932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 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IP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—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中断优先级寄存器的位描述</a:t>
            </a:r>
            <a:endParaRPr lang="zh-CN" altLang="en-US" sz="2000" b="1">
              <a:latin typeface="Arial" panose="020B0604020202020204" pitchFamily="34" charset="0"/>
            </a:endParaRPr>
          </a:p>
        </p:txBody>
      </p:sp>
      <p:graphicFrame>
        <p:nvGraphicFramePr>
          <p:cNvPr id="22626" name="表格 22625"/>
          <p:cNvGraphicFramePr/>
          <p:nvPr/>
        </p:nvGraphicFramePr>
        <p:xfrm>
          <a:off x="1775460" y="3021013"/>
          <a:ext cx="8712200" cy="3097213"/>
        </p:xfrm>
        <a:graphic>
          <a:graphicData uri="http://schemas.openxmlformats.org/drawingml/2006/table">
            <a:tbl>
              <a:tblPr/>
              <a:tblGrid>
                <a:gridCol w="1092200"/>
                <a:gridCol w="1220788"/>
                <a:gridCol w="6399212"/>
              </a:tblGrid>
              <a:tr h="34448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符号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描述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487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7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--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保留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6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--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保留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48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5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PT2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定时器</a:t>
                      </a: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中断优先级控制位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487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4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PS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串口中断优先级控制位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3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PT1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定时器</a:t>
                      </a: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中断优先级控制位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PX1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外部中断</a:t>
                      </a: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中断优先级控制位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48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PT0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定时器</a:t>
                      </a: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中断优先级控制位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PX0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外部中断</a:t>
                      </a:r>
                      <a:r>
                        <a:rPr lang="en-US" altLang="zh-CN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r>
                        <a:rPr lang="zh-CN" altLang="en-US" sz="16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中断优先级控制位</a:t>
                      </a:r>
                      <a:endParaRPr lang="zh-CN" altLang="en-US" sz="16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文本框 18433"/>
          <p:cNvSpPr txBox="1"/>
          <p:nvPr/>
        </p:nvSpPr>
        <p:spPr>
          <a:xfrm>
            <a:off x="0" y="370205"/>
            <a:ext cx="1215072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中断固有优先级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18435" name="表格 18434"/>
          <p:cNvGraphicFramePr/>
          <p:nvPr/>
        </p:nvGraphicFramePr>
        <p:xfrm>
          <a:off x="2041843" y="1270000"/>
          <a:ext cx="8066088" cy="4032250"/>
        </p:xfrm>
        <a:graphic>
          <a:graphicData uri="http://schemas.openxmlformats.org/drawingml/2006/table">
            <a:tbl>
              <a:tblPr/>
              <a:tblGrid>
                <a:gridCol w="1216025"/>
                <a:gridCol w="1471613"/>
                <a:gridCol w="1343025"/>
                <a:gridCol w="1344612"/>
                <a:gridCol w="1344613"/>
                <a:gridCol w="1346200"/>
              </a:tblGrid>
              <a:tr h="8604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中断函数编号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中断名称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中断标志位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中断使能位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中断向量地址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默认优先级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0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外部中断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IE0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EX0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0x0003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1(</a:t>
                      </a:r>
                      <a:r>
                        <a:rPr lang="zh-CN" altLang="en-US" sz="200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最高)</a:t>
                      </a:r>
                      <a:endParaRPr lang="zh-CN" altLang="en-US" sz="2000" u="none" dirty="0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02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TF0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ET0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0x000B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63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外部中断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IE1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EX1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0x0013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3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637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3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TF1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ET1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0x001B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4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02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4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UART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TI/RI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ES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0x0023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5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0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5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T2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TF2/EXF2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ET2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0x002B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6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2150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>
                <a:latin typeface="黑体" panose="02010609060101010101" charset="-122"/>
                <a:ea typeface="黑体" panose="02010609060101010101" charset="-122"/>
              </a:rPr>
              <a:t>中断抢占优先级的说明</a:t>
            </a:r>
            <a:endParaRPr lang="zh-CN" altLang="en-US" sz="36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0445" y="1066800"/>
            <a:ext cx="1001458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当人为配置了抢占中断优先级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配置“水开”为高优先级，则当“水开”事件发生时，直接处理“水开”，在处理“水开”的过程中，即使“接电话”发生了，也不会去理会。当“接电话”发生了，正在接电话时，这个时候，“水开”事件又发生了，那么停下接电话，先去处理“水开”，处理好了后，再回头电话旁，处理“接电话”事件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3200" b="1" dirty="0">
                <a:sym typeface="+mn-ea"/>
              </a:rPr>
              <a:t>   </a:t>
            </a:r>
            <a:endParaRPr lang="zh-CN" altLang="en-US"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2048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中断固有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优先级的说明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5540" y="1413510"/>
            <a:ext cx="9982835" cy="3088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当设置为默认固有中断优先级时：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/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假设“水开”默认优先级高于“接电话”优先级，当先听到“水开”则先处理“水开”这件事，当先听到“接电话”则先处理“接电话”这件事。只有当两件事同时发生时，则会先去处理“水开”，再处理“接电话”。</a:t>
            </a:r>
            <a:r>
              <a:rPr lang="zh-CN" altLang="en-US" sz="3200" b="1" dirty="0">
                <a:sym typeface="+mn-ea"/>
              </a:rPr>
              <a:t>   </a:t>
            </a:r>
            <a:endParaRPr lang="zh-CN" altLang="en-US"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945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>
                <a:latin typeface="黑体" panose="02010609060101010101" charset="-122"/>
                <a:ea typeface="黑体" panose="02010609060101010101" charset="-122"/>
              </a:rPr>
              <a:t>中断优先级的处理机制</a:t>
            </a:r>
            <a:endParaRPr lang="zh-CN" altLang="en-US" sz="36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56335" y="1242695"/>
            <a:ext cx="990346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当设置为默认中断固有优先级时：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当几个中断同时发生时，则先处理中断优先级高的中断程序，在处理任意中断期间发生中断，都不会响应。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当配置了中断优先级，即抢占优先级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同时发生中断，优先级高的先响应，在处理任意中断时，发生同级别或低级的中断，则不响应，发生优先级更高的中断时，则先处理高优先级中断，处理完毕，再回来处理当前中断。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945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固有优先级的意义</a:t>
            </a:r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--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仲裁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56335" y="1242695"/>
            <a:ext cx="990346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由于某种特殊原因，暂时关闭了总中断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EA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，即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EA=0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执行一段代码后重新使能了总中断，即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EA=1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；这段时间内很可能有多个中断发生了，因为刚刚总中断是关闭的，所以发生的多个中断都没有被响应，当总中断被打开后，同时请求响应，采用的就是固有优先级的先后顺序。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1217</Words>
  <Application>WPS 演示</Application>
  <PresentationFormat>宽屏</PresentationFormat>
  <Paragraphs>250</Paragraphs>
  <Slides>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思源黑体 CN ExtraLight</vt:lpstr>
      <vt:lpstr>黑体</vt:lpstr>
      <vt:lpstr>微软雅黑</vt:lpstr>
      <vt:lpstr>Times New Roman</vt:lpstr>
      <vt:lpstr>Arial Black</vt:lpstr>
      <vt:lpstr>Arial Unicode MS</vt:lpstr>
      <vt:lpstr>思源黑体 CN Medium</vt:lpstr>
      <vt:lpstr>1_Office 主题​​</vt:lpstr>
      <vt:lpstr>PowerPoint 演示文稿</vt:lpstr>
      <vt:lpstr>中断优先级</vt:lpstr>
      <vt:lpstr>PowerPoint 演示文稿</vt:lpstr>
      <vt:lpstr>PowerPoint 演示文稿</vt:lpstr>
      <vt:lpstr>中断抢占优先级的说明</vt:lpstr>
      <vt:lpstr>中断固有优先级的说明</vt:lpstr>
      <vt:lpstr>中断优先级的处理机制</vt:lpstr>
      <vt:lpstr>固有优先级的意义--仲裁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133</cp:revision>
  <dcterms:created xsi:type="dcterms:W3CDTF">2020-07-20T07:36:00Z</dcterms:created>
  <dcterms:modified xsi:type="dcterms:W3CDTF">2025-07-01T08:28:15Z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