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11"/>
  </p:handoutMasterIdLst>
  <p:sldIdLst>
    <p:sldId id="331" r:id="rId3"/>
    <p:sldId id="341" r:id="rId4"/>
    <p:sldId id="342" r:id="rId5"/>
    <p:sldId id="343" r:id="rId6"/>
    <p:sldId id="344" r:id="rId7"/>
    <p:sldId id="345" r:id="rId8"/>
    <p:sldId id="310" r:id="rId9"/>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AFAFA"/>
    <a:srgbClr val="F5F5F5"/>
    <a:srgbClr val="5C64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108" autoAdjust="0"/>
    <p:restoredTop sz="94660"/>
  </p:normalViewPr>
  <p:slideViewPr>
    <p:cSldViewPr snapToGrid="0">
      <p:cViewPr varScale="1">
        <p:scale>
          <a:sx n="99" d="100"/>
          <a:sy n="99" d="100"/>
        </p:scale>
        <p:origin x="84"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gs" Target="tags/tag1.xml"/><Relationship Id="rId15" Type="http://schemas.openxmlformats.org/officeDocument/2006/relationships/commentAuthors" Target="commen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ExtraLight" panose="020B0200000000000000" pitchFamily="34" charset="-122"/>
              </a:rPr>
            </a:fld>
            <a:endParaRPr lang="zh-CN" altLang="en-US">
              <a:latin typeface="思源黑体 CN ExtraLight" panose="020B02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ExtraLight" panose="020B0200000000000000" pitchFamily="34" charset="-122"/>
              </a:rPr>
            </a:fld>
            <a:endParaRPr lang="zh-CN" altLang="en-US">
              <a:latin typeface="思源黑体 CN ExtraLight" panose="020B02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1pPr>
          </a:lstStyle>
          <a:p>
            <a:fld id="{6903AD60-1E1B-49E5-889A-5081478A827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1pPr>
          </a:lstStyle>
          <a:p>
            <a:fld id="{41DFA862-0DC3-4474-8F9C-5AE07FF4BC8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1pPr>
    <a:lvl2pPr marL="457200" algn="l" defTabSz="914400" rtl="0" eaLnBrk="1" latinLnBrk="0" hangingPunct="1">
      <a:defRPr sz="1200" kern="1200">
        <a:solidFill>
          <a:schemeClr val="tx1"/>
        </a:solidFill>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2pPr>
    <a:lvl3pPr marL="914400" algn="l" defTabSz="914400" rtl="0" eaLnBrk="1" latinLnBrk="0" hangingPunct="1">
      <a:defRPr sz="1200" kern="1200">
        <a:solidFill>
          <a:schemeClr val="tx1"/>
        </a:solidFill>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3pPr>
    <a:lvl4pPr marL="1371600" algn="l" defTabSz="914400" rtl="0" eaLnBrk="1" latinLnBrk="0" hangingPunct="1">
      <a:defRPr sz="1200" kern="1200">
        <a:solidFill>
          <a:schemeClr val="tx1"/>
        </a:solidFill>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4pPr>
    <a:lvl5pPr marL="1828800" algn="l" defTabSz="914400" rtl="0" eaLnBrk="1" latinLnBrk="0" hangingPunct="1">
      <a:defRPr sz="1200" kern="1200">
        <a:solidFill>
          <a:schemeClr val="tx1"/>
        </a:solidFill>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矩形 9"/>
          <p:cNvSpPr/>
          <p:nvPr userDrawn="1"/>
        </p:nvSpPr>
        <p:spPr>
          <a:xfrm>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矩形 2"/>
          <p:cNvSpPr/>
          <p:nvPr userDrawn="1"/>
        </p:nvSpPr>
        <p:spPr>
          <a:xfrm>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4" name="图片 3" descr="金沙滩Logo"/>
          <p:cNvPicPr>
            <a:picLocks noChangeAspect="1"/>
          </p:cNvPicPr>
          <p:nvPr userDrawn="1"/>
        </p:nvPicPr>
        <p:blipFill>
          <a:blip r:embed="rId3"/>
          <a:stretch>
            <a:fillRect/>
          </a:stretch>
        </p:blipFill>
        <p:spPr>
          <a:xfrm>
            <a:off x="0" y="0"/>
            <a:ext cx="1097280" cy="109728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rot="327914" flipH="1">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4" name="矩形 3"/>
          <p:cNvSpPr/>
          <p:nvPr userDrawn="1"/>
        </p:nvSpPr>
        <p:spPr>
          <a:xfrm>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userDrawn="1"/>
        </p:nvSpPr>
        <p:spPr>
          <a:xfrm rot="327914" flipH="1">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6" name="矩形 5"/>
          <p:cNvSpPr/>
          <p:nvPr userDrawn="1"/>
        </p:nvSpPr>
        <p:spPr>
          <a:xfrm>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7" name="图片 6" descr="金沙滩Logo"/>
          <p:cNvPicPr>
            <a:picLocks noChangeAspect="1"/>
          </p:cNvPicPr>
          <p:nvPr userDrawn="1"/>
        </p:nvPicPr>
        <p:blipFill>
          <a:blip r:embed="rId3"/>
          <a:stretch>
            <a:fillRect/>
          </a:stretch>
        </p:blipFill>
        <p:spPr>
          <a:xfrm>
            <a:off x="0" y="0"/>
            <a:ext cx="1097280" cy="109728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rot="21272086">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4" name="矩形 3"/>
          <p:cNvSpPr/>
          <p:nvPr userDrawn="1"/>
        </p:nvSpPr>
        <p:spPr>
          <a:xfrm>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userDrawn="1"/>
        </p:nvSpPr>
        <p:spPr>
          <a:xfrm rot="21272086">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6" name="矩形 5"/>
          <p:cNvSpPr/>
          <p:nvPr userDrawn="1"/>
        </p:nvSpPr>
        <p:spPr>
          <a:xfrm>
            <a:off x="1252402" y="899440"/>
            <a:ext cx="9687196" cy="50591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7" name="图片 6" descr="金沙滩Logo"/>
          <p:cNvPicPr>
            <a:picLocks noChangeAspect="1"/>
          </p:cNvPicPr>
          <p:nvPr userDrawn="1"/>
        </p:nvPicPr>
        <p:blipFill>
          <a:blip r:embed="rId3"/>
          <a:stretch>
            <a:fillRect/>
          </a:stretch>
        </p:blipFill>
        <p:spPr>
          <a:xfrm>
            <a:off x="0" y="0"/>
            <a:ext cx="1097280" cy="109728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a:off x="738433" y="564500"/>
            <a:ext cx="10715134" cy="5729000"/>
          </a:xfrm>
          <a:prstGeom prst="rect">
            <a:avLst/>
          </a:prstGeom>
          <a:solidFill>
            <a:schemeClr val="bg1"/>
          </a:solidFill>
          <a:ln>
            <a:noFill/>
          </a:ln>
          <a:effectLst>
            <a:outerShdw blurRad="635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矩形 3"/>
          <p:cNvSpPr/>
          <p:nvPr userDrawn="1"/>
        </p:nvSpPr>
        <p:spPr>
          <a:xfrm>
            <a:off x="738433" y="564500"/>
            <a:ext cx="10715134" cy="5729000"/>
          </a:xfrm>
          <a:prstGeom prst="rect">
            <a:avLst/>
          </a:prstGeom>
          <a:solidFill>
            <a:schemeClr val="bg1"/>
          </a:solidFill>
          <a:ln>
            <a:noFill/>
          </a:ln>
          <a:effectLst>
            <a:outerShdw blurRad="635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7" name="图片 6" descr="金沙滩Logo"/>
          <p:cNvPicPr>
            <a:picLocks noChangeAspect="1"/>
          </p:cNvPicPr>
          <p:nvPr userDrawn="1"/>
        </p:nvPicPr>
        <p:blipFill>
          <a:blip r:embed="rId3"/>
          <a:stretch>
            <a:fillRect/>
          </a:stretch>
        </p:blipFill>
        <p:spPr>
          <a:xfrm>
            <a:off x="0" y="0"/>
            <a:ext cx="1097280" cy="1097280"/>
          </a:xfrm>
          <a:prstGeom prst="rect">
            <a:avLst/>
          </a:prstGeom>
        </p:spPr>
      </p:pic>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矩形 1"/>
          <p:cNvSpPr/>
          <p:nvPr userDrawn="1"/>
        </p:nvSpPr>
        <p:spPr>
          <a:xfrm>
            <a:off x="371474" y="368300"/>
            <a:ext cx="11449051" cy="6121400"/>
          </a:xfrm>
          <a:prstGeom prst="rect">
            <a:avLst/>
          </a:prstGeom>
          <a:solidFill>
            <a:schemeClr val="bg1"/>
          </a:solidFill>
          <a:ln>
            <a:noFill/>
          </a:ln>
          <a:effectLst>
            <a:outerShdw blurRad="635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sp>
        <p:nvSpPr>
          <p:cNvPr id="4" name="文本占位符 3"/>
          <p:cNvSpPr>
            <a:spLocks noGrp="1"/>
          </p:cNvSpPr>
          <p:nvPr>
            <p:ph type="body" sz="quarter" idx="10" hasCustomPrompt="1"/>
          </p:nvPr>
        </p:nvSpPr>
        <p:spPr>
          <a:xfrm>
            <a:off x="4056855" y="482600"/>
            <a:ext cx="4078288" cy="593725"/>
          </a:xfrm>
          <a:prstGeom prst="rect">
            <a:avLst/>
          </a:prstGeom>
        </p:spPr>
        <p:txBody>
          <a:bodyPr anchor="ctr"/>
          <a:lstStyle>
            <a:lvl1pPr marL="0" indent="0" algn="ctr">
              <a:buNone/>
              <a:defRPr sz="2800">
                <a:solidFill>
                  <a:schemeClr val="accent2"/>
                </a:solidFill>
                <a:latin typeface="思源黑体 CN ExtraLight" panose="020B0200000000000000" pitchFamily="34" charset="-122"/>
                <a:ea typeface="思源黑体 CN ExtraLight" panose="020B0200000000000000" pitchFamily="34" charset="-122"/>
                <a:cs typeface="思源黑体 CN ExtraLight" panose="020B0200000000000000" pitchFamily="34" charset="-122"/>
              </a:defRPr>
            </a:lvl1pPr>
          </a:lstStyle>
          <a:p>
            <a:pPr lvl="0"/>
            <a:r>
              <a:rPr lang="zh-CN" altLang="en-US" dirty="0"/>
              <a:t>单击此处编辑母版文本</a:t>
            </a: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矩形 4"/>
          <p:cNvSpPr/>
          <p:nvPr userDrawn="1"/>
        </p:nvSpPr>
        <p:spPr>
          <a:xfrm>
            <a:off x="371474" y="368300"/>
            <a:ext cx="11449051" cy="6121400"/>
          </a:xfrm>
          <a:prstGeom prst="rect">
            <a:avLst/>
          </a:prstGeom>
          <a:solidFill>
            <a:schemeClr val="bg1"/>
          </a:solidFill>
          <a:ln>
            <a:noFill/>
          </a:ln>
          <a:effectLst>
            <a:outerShdw blurRad="63500" sx="101000" sy="101000" algn="ctr" rotWithShape="0">
              <a:schemeClr val="tx1">
                <a:lumMod val="50000"/>
                <a:lumOff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latin typeface="思源黑体 CN ExtraLight" panose="020B0200000000000000" pitchFamily="34" charset="-122"/>
              <a:ea typeface="思源黑体 CN ExtraLight" panose="020B0200000000000000" pitchFamily="34" charset="-122"/>
              <a:cs typeface="思源黑体 CN ExtraLight" panose="020B0200000000000000" pitchFamily="34" charset="-122"/>
            </a:endParaRPr>
          </a:p>
        </p:txBody>
      </p:sp>
      <p:pic>
        <p:nvPicPr>
          <p:cNvPr id="7" name="图片 6" descr="金沙滩Logo"/>
          <p:cNvPicPr>
            <a:picLocks noChangeAspect="1"/>
          </p:cNvPicPr>
          <p:nvPr userDrawn="1"/>
        </p:nvPicPr>
        <p:blipFill>
          <a:blip r:embed="rId3"/>
          <a:stretch>
            <a:fillRect/>
          </a:stretch>
        </p:blipFill>
        <p:spPr>
          <a:xfrm>
            <a:off x="0" y="0"/>
            <a:ext cx="1097280" cy="1097280"/>
          </a:xfrm>
          <a:prstGeom prst="rect">
            <a:avLst/>
          </a:prstGeom>
        </p:spPr>
      </p:pic>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706437"/>
          </a:xfrm>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日期占位符 3"/>
          <p:cNvSpPr>
            <a:spLocks noGrp="1"/>
          </p:cNvSpPr>
          <p:nvPr>
            <p:ph type="dt" sz="half" idx="10"/>
          </p:nvPr>
        </p:nvSpPr>
        <p:spPr>
          <a:xfrm>
            <a:off x="624417" y="6092825"/>
            <a:ext cx="2844800" cy="217488"/>
          </a:xfrm>
        </p:spPr>
        <p:txBody>
          <a:bodyPr/>
          <a:p>
            <a:pPr lvl="0" fontAlgn="base"/>
            <a:endParaRPr lang="zh-CN" altLang="en-US" strike="noStrike" noProof="1">
              <a:latin typeface="Arial" panose="020B0604020202020204" pitchFamily="34" charset="0"/>
            </a:endParaRPr>
          </a:p>
        </p:txBody>
      </p:sp>
      <p:sp>
        <p:nvSpPr>
          <p:cNvPr id="5" name="页脚占位符 4"/>
          <p:cNvSpPr>
            <a:spLocks noGrp="1"/>
          </p:cNvSpPr>
          <p:nvPr>
            <p:ph type="ftr" sz="quarter" idx="11"/>
          </p:nvPr>
        </p:nvSpPr>
        <p:spPr>
          <a:xfrm>
            <a:off x="4078817" y="6092825"/>
            <a:ext cx="3860800" cy="215900"/>
          </a:xfrm>
        </p:spPr>
        <p:txBody>
          <a:bodyPr/>
          <a:p>
            <a:pPr lvl="0" fontAlgn="base"/>
            <a:endParaRPr lang="zh-CN" altLang="en-US" strike="noStrike" noProof="1">
              <a:latin typeface="Arial" panose="020B0604020202020204" pitchFamily="34" charset="0"/>
            </a:endParaRPr>
          </a:p>
        </p:txBody>
      </p:sp>
      <p:sp>
        <p:nvSpPr>
          <p:cNvPr id="6" name="灯片编号占位符 5"/>
          <p:cNvSpPr>
            <a:spLocks noGrp="1"/>
          </p:cNvSpPr>
          <p:nvPr>
            <p:ph type="sldNum" sz="quarter" idx="12"/>
          </p:nvPr>
        </p:nvSpPr>
        <p:spPr>
          <a:xfrm>
            <a:off x="8737600" y="6092825"/>
            <a:ext cx="2844800" cy="215900"/>
          </a:xfrm>
        </p:spPr>
        <p:txBody>
          <a:bodyPr/>
          <a:p>
            <a:pPr lvl="0" fontAlgn="base"/>
            <a:fld id="{9A0DB2DC-4C9A-4742-B13C-FB6460FD3503}" type="slidenum">
              <a:rPr lang="zh-CN" altLang="en-US" strike="noStrike" noProof="1">
                <a:latin typeface="Arial" panose="020B0604020202020204" pitchFamily="34" charset="0"/>
                <a:ea typeface="宋体" panose="02010600030101010101" pitchFamily="2" charset="-122"/>
                <a:cs typeface="+mn-cs"/>
              </a:rPr>
            </a:fld>
            <a:endParaRPr lang="zh-CN" altLang="en-US" strike="noStrike" noProof="1">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2.png"/><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descr="金沙滩Logo"/>
          <p:cNvPicPr>
            <a:picLocks noChangeAspect="1"/>
          </p:cNvPicPr>
          <p:nvPr/>
        </p:nvPicPr>
        <p:blipFill>
          <a:blip r:embed="rId7"/>
          <a:stretch>
            <a:fillRect/>
          </a:stretch>
        </p:blipFill>
        <p:spPr>
          <a:xfrm>
            <a:off x="36195" y="62230"/>
            <a:ext cx="1097280" cy="109728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矩形 6"/>
          <p:cNvSpPr/>
          <p:nvPr/>
        </p:nvSpPr>
        <p:spPr>
          <a:xfrm>
            <a:off x="8246110" y="0"/>
            <a:ext cx="3835400" cy="650240"/>
          </a:xfrm>
          <a:prstGeom prst="rect">
            <a:avLst/>
          </a:prstGeom>
        </p:spPr>
        <p:txBody>
          <a:bodyPr wrap="none">
            <a:noAutofit/>
          </a:bodyPr>
          <a:p>
            <a:pPr algn="ctr"/>
            <a:r>
              <a:rPr lang="zh-CN" altLang="en-US" sz="2000" dirty="0">
                <a:solidFill>
                  <a:srgbClr val="0000FF"/>
                </a:solidFill>
                <a:latin typeface="微软雅黑" panose="020B0503020204020204" charset="-122"/>
                <a:ea typeface="微软雅黑" panose="020B0503020204020204" charset="-122"/>
                <a:cs typeface="微软雅黑" panose="020B0503020204020204" charset="-122"/>
              </a:rPr>
              <a:t>配套书籍：手把手教你学</a:t>
            </a:r>
            <a:r>
              <a:rPr lang="en-US" altLang="zh-CN" sz="2000" dirty="0">
                <a:solidFill>
                  <a:srgbClr val="0000FF"/>
                </a:solidFill>
                <a:latin typeface="微软雅黑" panose="020B0503020204020204" charset="-122"/>
                <a:ea typeface="微软雅黑" panose="020B0503020204020204" charset="-122"/>
                <a:cs typeface="微软雅黑" panose="020B0503020204020204" charset="-122"/>
              </a:rPr>
              <a:t>51</a:t>
            </a:r>
            <a:r>
              <a:rPr lang="zh-CN" altLang="en-US" sz="2000" dirty="0">
                <a:solidFill>
                  <a:srgbClr val="0000FF"/>
                </a:solidFill>
                <a:latin typeface="微软雅黑" panose="020B0503020204020204" charset="-122"/>
                <a:ea typeface="微软雅黑" panose="020B0503020204020204" charset="-122"/>
                <a:cs typeface="微软雅黑" panose="020B0503020204020204" charset="-122"/>
              </a:rPr>
              <a:t>单片机</a:t>
            </a:r>
            <a:endParaRPr lang="zh-CN" altLang="en-US" sz="2000" dirty="0">
              <a:solidFill>
                <a:srgbClr val="0000FF"/>
              </a:solidFill>
              <a:latin typeface="微软雅黑" panose="020B0503020204020204" charset="-122"/>
              <a:ea typeface="微软雅黑" panose="020B0503020204020204" charset="-122"/>
              <a:cs typeface="微软雅黑" panose="020B0503020204020204" charset="-122"/>
            </a:endParaRPr>
          </a:p>
          <a:p>
            <a:pPr algn="ctr"/>
            <a:r>
              <a:rPr lang="en-US" altLang="zh-CN" sz="2000" dirty="0">
                <a:solidFill>
                  <a:srgbClr val="0000FF"/>
                </a:solidFill>
                <a:latin typeface="微软雅黑" panose="020B0503020204020204" charset="-122"/>
                <a:ea typeface="微软雅黑" panose="020B0503020204020204" charset="-122"/>
                <a:cs typeface="微软雅黑" panose="020B0503020204020204" charset="-122"/>
              </a:rPr>
              <a:t>                         --C</a:t>
            </a:r>
            <a:r>
              <a:rPr lang="zh-CN" altLang="en-US" sz="2000" dirty="0">
                <a:solidFill>
                  <a:srgbClr val="0000FF"/>
                </a:solidFill>
                <a:latin typeface="微软雅黑" panose="020B0503020204020204" charset="-122"/>
                <a:ea typeface="微软雅黑" panose="020B0503020204020204" charset="-122"/>
                <a:cs typeface="微软雅黑" panose="020B0503020204020204" charset="-122"/>
              </a:rPr>
              <a:t>语言版（第</a:t>
            </a:r>
            <a:r>
              <a:rPr lang="en-US" altLang="zh-CN" sz="2000" dirty="0">
                <a:solidFill>
                  <a:srgbClr val="0000FF"/>
                </a:solidFill>
                <a:latin typeface="微软雅黑" panose="020B0503020204020204" charset="-122"/>
                <a:ea typeface="微软雅黑" panose="020B0503020204020204" charset="-122"/>
                <a:cs typeface="微软雅黑" panose="020B0503020204020204" charset="-122"/>
              </a:rPr>
              <a:t>3</a:t>
            </a:r>
            <a:r>
              <a:rPr lang="zh-CN" altLang="en-US" sz="2000" dirty="0">
                <a:solidFill>
                  <a:srgbClr val="0000FF"/>
                </a:solidFill>
                <a:latin typeface="微软雅黑" panose="020B0503020204020204" charset="-122"/>
                <a:ea typeface="微软雅黑" panose="020B0503020204020204" charset="-122"/>
                <a:cs typeface="微软雅黑" panose="020B0503020204020204" charset="-122"/>
              </a:rPr>
              <a:t>版）</a:t>
            </a:r>
            <a:endParaRPr lang="zh-CN" altLang="en-US" sz="2000" dirty="0">
              <a:solidFill>
                <a:srgbClr val="0000FF"/>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4106545" y="4959350"/>
            <a:ext cx="4064000" cy="645160"/>
          </a:xfrm>
          <a:prstGeom prst="rect">
            <a:avLst/>
          </a:prstGeom>
          <a:noFill/>
        </p:spPr>
        <p:txBody>
          <a:bodyPr wrap="square" rtlCol="0">
            <a:spAutoFit/>
          </a:bodyPr>
          <a:p>
            <a:pPr algn="ctr"/>
            <a:r>
              <a:rPr lang="zh-CN" altLang="en-US">
                <a:latin typeface="微软雅黑" panose="020B0503020204020204" charset="-122"/>
                <a:ea typeface="微软雅黑" panose="020B0503020204020204" charset="-122"/>
              </a:rPr>
              <a:t>青岛金思特电子有限公司</a:t>
            </a:r>
            <a:endParaRPr lang="zh-CN" altLang="en-US">
              <a:latin typeface="微软雅黑" panose="020B0503020204020204" charset="-122"/>
              <a:ea typeface="微软雅黑" panose="020B0503020204020204" charset="-122"/>
            </a:endParaRPr>
          </a:p>
          <a:p>
            <a:pPr algn="ctr"/>
            <a:r>
              <a:rPr lang="zh-CN" altLang="en-US">
                <a:latin typeface="微软雅黑" panose="020B0503020204020204" charset="-122"/>
                <a:ea typeface="微软雅黑" panose="020B0503020204020204" charset="-122"/>
              </a:rPr>
              <a:t>（金沙滩工作室）</a:t>
            </a:r>
            <a:endParaRPr lang="zh-CN" altLang="en-US">
              <a:latin typeface="微软雅黑" panose="020B0503020204020204" charset="-122"/>
              <a:ea typeface="微软雅黑" panose="020B0503020204020204" charset="-122"/>
            </a:endParaRPr>
          </a:p>
        </p:txBody>
      </p:sp>
      <p:sp>
        <p:nvSpPr>
          <p:cNvPr id="9" name="文本框 8"/>
          <p:cNvSpPr txBox="1"/>
          <p:nvPr/>
        </p:nvSpPr>
        <p:spPr>
          <a:xfrm>
            <a:off x="4011930" y="5709920"/>
            <a:ext cx="4064000" cy="368300"/>
          </a:xfrm>
          <a:prstGeom prst="rect">
            <a:avLst/>
          </a:prstGeom>
          <a:noFill/>
        </p:spPr>
        <p:txBody>
          <a:bodyPr wrap="square" rtlCol="0">
            <a:spAutoFit/>
          </a:bodyPr>
          <a:p>
            <a:pPr algn="ctr"/>
            <a:r>
              <a:rPr lang="zh-CN" altLang="en-US">
                <a:latin typeface="微软雅黑" panose="020B0503020204020204" charset="-122"/>
                <a:ea typeface="微软雅黑" panose="020B0503020204020204" charset="-122"/>
              </a:rPr>
              <a:t>作者：宋雪松</a:t>
            </a:r>
            <a:endParaRPr lang="zh-CN" altLang="en-US">
              <a:latin typeface="微软雅黑" panose="020B0503020204020204" charset="-122"/>
              <a:ea typeface="微软雅黑" panose="020B0503020204020204" charset="-122"/>
            </a:endParaRPr>
          </a:p>
        </p:txBody>
      </p:sp>
      <p:sp>
        <p:nvSpPr>
          <p:cNvPr id="3" name="文本框 2"/>
          <p:cNvSpPr txBox="1"/>
          <p:nvPr/>
        </p:nvSpPr>
        <p:spPr>
          <a:xfrm>
            <a:off x="-143510" y="2327275"/>
            <a:ext cx="12192000" cy="706755"/>
          </a:xfrm>
          <a:prstGeom prst="rect">
            <a:avLst/>
          </a:prstGeom>
          <a:noFill/>
        </p:spPr>
        <p:txBody>
          <a:bodyPr wrap="square" rtlCol="0" anchor="t">
            <a:spAutoFit/>
          </a:bodyPr>
          <a:p>
            <a:pPr algn="ctr">
              <a:buNone/>
            </a:pPr>
            <a:r>
              <a:rPr lang="en-US" altLang="zh-CN" sz="4000" b="1" dirty="0">
                <a:solidFill>
                  <a:srgbClr val="FF3300"/>
                </a:solidFill>
                <a:latin typeface="宋体" panose="02010600030101010101" pitchFamily="2" charset="-122"/>
                <a:ea typeface="宋体" panose="02010600030101010101" pitchFamily="2" charset="-122"/>
                <a:sym typeface="+mn-ea"/>
              </a:rPr>
              <a:t>6-5</a:t>
            </a:r>
            <a:r>
              <a:rPr lang="zh-CN" altLang="en-US" sz="4000" b="1" dirty="0">
                <a:solidFill>
                  <a:srgbClr val="FF3300"/>
                </a:solidFill>
                <a:latin typeface="宋体" panose="02010600030101010101" pitchFamily="2" charset="-122"/>
                <a:ea typeface="宋体" panose="02010600030101010101" pitchFamily="2" charset="-122"/>
                <a:sym typeface="+mn-ea"/>
              </a:rPr>
              <a:t>：中断系统的学习</a:t>
            </a:r>
            <a:endParaRPr lang="zh-CN" sz="4000" b="1" dirty="0">
              <a:solidFill>
                <a:srgbClr val="FF3300"/>
              </a:solidFill>
              <a:latin typeface="宋体" panose="02010600030101010101" pitchFamily="2" charset="-122"/>
              <a:ea typeface="宋体" panose="02010600030101010101" pitchFamily="2" charset="-122"/>
              <a:sym typeface="+mn-ea"/>
            </a:endParaRPr>
          </a:p>
        </p:txBody>
      </p:sp>
      <p:sp>
        <p:nvSpPr>
          <p:cNvPr id="4" name="文本框 3"/>
          <p:cNvSpPr txBox="1"/>
          <p:nvPr/>
        </p:nvSpPr>
        <p:spPr>
          <a:xfrm>
            <a:off x="1041400" y="5080"/>
            <a:ext cx="6767830" cy="645160"/>
          </a:xfrm>
          <a:prstGeom prst="rect">
            <a:avLst/>
          </a:prstGeom>
          <a:noFill/>
        </p:spPr>
        <p:txBody>
          <a:bodyPr wrap="square" rtlCol="0">
            <a:spAutoFit/>
          </a:bodyPr>
          <a:p>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回馈社会，</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rPr>
              <a:t>全面开源</a:t>
            </a:r>
            <a:r>
              <a:rPr lang="en-US" altLang="zh-CN">
                <a:solidFill>
                  <a:srgbClr val="FF0000"/>
                </a:solidFill>
                <a:latin typeface="宋体" panose="02010600030101010101" pitchFamily="2" charset="-122"/>
                <a:ea typeface="宋体" panose="02010600030101010101" pitchFamily="2" charset="-122"/>
                <a:cs typeface="宋体" panose="02010600030101010101" pitchFamily="2" charset="-122"/>
              </a:rPr>
              <a:t>“Kingst51”</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rPr>
              <a:t>所有资料。</a:t>
            </a:r>
            <a:endPar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endParaRPr>
          </a:p>
          <a:p>
            <a:r>
              <a:rPr lang="en-US" altLang="zh-CN">
                <a:solidFill>
                  <a:srgbClr val="FF0000"/>
                </a:solidFill>
                <a:latin typeface="宋体" panose="02010600030101010101" pitchFamily="2" charset="-122"/>
                <a:ea typeface="宋体" panose="02010600030101010101" pitchFamily="2" charset="-122"/>
                <a:cs typeface="宋体" panose="02010600030101010101" pitchFamily="2" charset="-122"/>
              </a:rPr>
              <a:t>“Kingst51”</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rPr>
              <a:t>开发板以</a:t>
            </a:r>
            <a:r>
              <a:rPr lang="en-US" altLang="zh-CN">
                <a:solidFill>
                  <a:srgbClr val="FF0000"/>
                </a:solidFill>
                <a:latin typeface="宋体" panose="02010600030101010101" pitchFamily="2" charset="-122"/>
                <a:ea typeface="宋体" panose="02010600030101010101" pitchFamily="2" charset="-122"/>
                <a:cs typeface="宋体" panose="02010600030101010101" pitchFamily="2" charset="-122"/>
              </a:rPr>
              <a:t>0</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rPr>
              <a:t>利润成本价销售（公开完整</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成本清单）</a:t>
            </a:r>
            <a:endPar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p:cNvSpPr txBox="1"/>
          <p:nvPr/>
        </p:nvSpPr>
        <p:spPr>
          <a:xfrm>
            <a:off x="635" y="3255645"/>
            <a:ext cx="12191365" cy="645160"/>
          </a:xfrm>
          <a:prstGeom prst="rect">
            <a:avLst/>
          </a:prstGeom>
          <a:noFill/>
        </p:spPr>
        <p:txBody>
          <a:bodyPr wrap="square" rtlCol="0">
            <a:spAutoFit/>
          </a:bodyPr>
          <a:p>
            <a:pPr algn="ctr"/>
            <a:r>
              <a:rPr lang="zh-CN" altLang="en-US">
                <a:solidFill>
                  <a:srgbClr val="0000FF"/>
                </a:solidFill>
                <a:latin typeface="宋体" panose="02010600030101010101" pitchFamily="2" charset="-122"/>
                <a:ea typeface="宋体" panose="02010600030101010101" pitchFamily="2" charset="-122"/>
              </a:rPr>
              <a:t>关注各大直播平台：金沙滩电子课堂，直播授课答疑</a:t>
            </a:r>
            <a:endParaRPr lang="zh-CN" altLang="en-US">
              <a:solidFill>
                <a:srgbClr val="0000FF"/>
              </a:solidFill>
              <a:latin typeface="宋体" panose="02010600030101010101" pitchFamily="2" charset="-122"/>
              <a:ea typeface="宋体" panose="02010600030101010101" pitchFamily="2" charset="-122"/>
            </a:endParaRPr>
          </a:p>
          <a:p>
            <a:pPr algn="ctr"/>
            <a:endParaRPr lang="zh-CN" altLang="en-US">
              <a:solidFill>
                <a:srgbClr val="0000FF"/>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标题 14337"/>
          <p:cNvSpPr>
            <a:spLocks noGrp="1"/>
          </p:cNvSpPr>
          <p:nvPr>
            <p:ph type="title"/>
          </p:nvPr>
        </p:nvSpPr>
        <p:spPr/>
        <p:txBody>
          <a:bodyPr anchor="ctr" anchorCtr="0"/>
          <a:p>
            <a:pPr algn="ctr"/>
            <a:r>
              <a:rPr lang="zh-CN" altLang="en-US" sz="3600">
                <a:latin typeface="黑体" panose="02010609060101010101" charset="-122"/>
                <a:ea typeface="黑体" panose="02010609060101010101" charset="-122"/>
              </a:rPr>
              <a:t>中断的介绍</a:t>
            </a:r>
            <a:endParaRPr lang="zh-CN" altLang="en-US" sz="3600">
              <a:latin typeface="黑体" panose="02010609060101010101" charset="-122"/>
              <a:ea typeface="黑体" panose="02010609060101010101" charset="-122"/>
            </a:endParaRPr>
          </a:p>
        </p:txBody>
      </p:sp>
      <p:sp>
        <p:nvSpPr>
          <p:cNvPr id="2" name="文本框 1"/>
          <p:cNvSpPr txBox="1"/>
          <p:nvPr/>
        </p:nvSpPr>
        <p:spPr>
          <a:xfrm>
            <a:off x="1275715" y="981075"/>
            <a:ext cx="9422765" cy="4030980"/>
          </a:xfrm>
          <a:prstGeom prst="rect">
            <a:avLst/>
          </a:prstGeom>
          <a:noFill/>
        </p:spPr>
        <p:txBody>
          <a:bodyPr wrap="square" rtlCol="0" anchor="t">
            <a:spAutoFit/>
          </a:bodyPr>
          <a:p>
            <a:r>
              <a:rPr lang="zh-CN" altLang="en-US" sz="3200" b="1" dirty="0">
                <a:latin typeface="宋体" panose="02010600030101010101" pitchFamily="2" charset="-122"/>
                <a:ea typeface="宋体" panose="02010600030101010101" pitchFamily="2" charset="-122"/>
                <a:cs typeface="宋体" panose="02010600030101010101" pitchFamily="2" charset="-122"/>
                <a:sym typeface="+mn-ea"/>
              </a:rPr>
              <a:t>比如说我正在厨房用煤气烧一壶水，这样就只能守在厨房里，苦苦等着水开</a:t>
            </a:r>
            <a:r>
              <a:rPr lang="zh-CN" altLang="en-US" sz="3200" b="1" dirty="0">
                <a:latin typeface="宋体" panose="02010600030101010101" pitchFamily="2" charset="-122"/>
                <a:ea typeface="宋体" panose="02010600030101010101" pitchFamily="2" charset="-122"/>
                <a:cs typeface="宋体" panose="02010600030101010101" pitchFamily="2" charset="-122"/>
                <a:sym typeface="+mn-ea"/>
              </a:rPr>
              <a:t>——如果水溢出来浇灭了煤气，有可能就要发生一场灾难了。</a:t>
            </a:r>
            <a:endParaRPr lang="zh-CN" altLang="en-US" sz="3200" b="1" dirty="0">
              <a:latin typeface="宋体" panose="02010600030101010101" pitchFamily="2" charset="-122"/>
              <a:ea typeface="宋体" panose="02010600030101010101" pitchFamily="2" charset="-122"/>
              <a:cs typeface="宋体" panose="02010600030101010101" pitchFamily="2" charset="-122"/>
            </a:endParaRPr>
          </a:p>
          <a:p>
            <a:r>
              <a:rPr lang="zh-CN" altLang="en-US" sz="3200" b="1" dirty="0">
                <a:latin typeface="宋体" panose="02010600030101010101" pitchFamily="2" charset="-122"/>
                <a:ea typeface="宋体" panose="02010600030101010101" pitchFamily="2" charset="-122"/>
                <a:cs typeface="宋体" panose="02010600030101010101" pitchFamily="2" charset="-122"/>
                <a:sym typeface="+mn-ea"/>
              </a:rPr>
              <a:t>门外忽然又传来了铿锵有力的歌声，我最喜欢的电视剧要开演了，听着水壶发出“咕嘟咕嘟”的声音，我清楚：除非等到水开，否则没有我享受人生的时候。</a:t>
            </a:r>
            <a:endParaRPr lang="zh-CN" altLang="en-US" sz="3200" b="1" dirty="0">
              <a:latin typeface="宋体" panose="02010600030101010101" pitchFamily="2" charset="-122"/>
              <a:ea typeface="宋体" panose="02010600030101010101" pitchFamily="2" charset="-122"/>
              <a:cs typeface="宋体" panose="02010600030101010101" pitchFamily="2" charset="-122"/>
            </a:endParaRPr>
          </a:p>
          <a:p>
            <a:r>
              <a:rPr lang="zh-CN" altLang="en-US" sz="3200" b="1" dirty="0">
                <a:latin typeface="宋体" panose="02010600030101010101" pitchFamily="2" charset="-122"/>
                <a:ea typeface="宋体" panose="02010600030101010101" pitchFamily="2" charset="-122"/>
                <a:cs typeface="宋体" panose="02010600030101010101" pitchFamily="2" charset="-122"/>
                <a:sym typeface="+mn-ea"/>
              </a:rPr>
              <a:t>这个场景跟中断有什么关系呢？</a:t>
            </a:r>
            <a:endParaRPr lang="zh-CN" altLang="en-US" sz="3200" b="1" dirty="0">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702310" y="1118870"/>
            <a:ext cx="10698480" cy="5299710"/>
          </a:xfrm>
          <a:prstGeom prst="rect">
            <a:avLst/>
          </a:prstGeom>
          <a:noFill/>
        </p:spPr>
        <p:txBody>
          <a:bodyPr wrap="square" rtlCol="0" anchor="t">
            <a:noAutofit/>
          </a:bodyPr>
          <a:p>
            <a:r>
              <a:rPr lang="en-US" altLang="zh-CN" sz="3200" b="1">
                <a:latin typeface="宋体" panose="02010600030101010101" pitchFamily="2" charset="-122"/>
                <a:ea typeface="宋体" panose="02010600030101010101" pitchFamily="2" charset="-122"/>
                <a:cs typeface="宋体" panose="02010600030101010101" pitchFamily="2" charset="-122"/>
                <a:sym typeface="+mn-ea"/>
              </a:rPr>
              <a:t>    </a:t>
            </a:r>
            <a:r>
              <a:rPr lang="zh-CN" altLang="en-US" sz="3200" b="1">
                <a:latin typeface="宋体" panose="02010600030101010101" pitchFamily="2" charset="-122"/>
                <a:ea typeface="宋体" panose="02010600030101010101" pitchFamily="2" charset="-122"/>
                <a:cs typeface="宋体" panose="02010600030101010101" pitchFamily="2" charset="-122"/>
                <a:sym typeface="+mn-ea"/>
              </a:rPr>
              <a:t>在这个场景中，我是唯一具有处理能力的主体，不管是烧水、还是看电视，同一个时间点上我只能干一件事情。但是，在我专心致志干一件事情时，总有许多或紧迫或不紧迫的事情突然出现在面前，都需要去关注，有些还需要</a:t>
            </a:r>
            <a:r>
              <a:rPr lang="en-US" altLang="zh-CN" sz="3200" b="1">
                <a:latin typeface="宋体" panose="02010600030101010101" pitchFamily="2" charset="-122"/>
                <a:ea typeface="宋体" panose="02010600030101010101" pitchFamily="2" charset="-122"/>
                <a:cs typeface="宋体" panose="02010600030101010101" pitchFamily="2" charset="-122"/>
                <a:sym typeface="+mn-ea"/>
              </a:rPr>
              <a:t>     </a:t>
            </a:r>
            <a:r>
              <a:rPr lang="zh-CN" altLang="en-US" sz="3200" b="1">
                <a:latin typeface="宋体" panose="02010600030101010101" pitchFamily="2" charset="-122"/>
                <a:ea typeface="宋体" panose="02010600030101010101" pitchFamily="2" charset="-122"/>
                <a:cs typeface="宋体" panose="02010600030101010101" pitchFamily="2" charset="-122"/>
                <a:sym typeface="+mn-ea"/>
              </a:rPr>
              <a:t>我停下手头的工作马上去处理。只有在处理完之后，方能回头完成先前的任务。</a:t>
            </a:r>
            <a:endParaRPr lang="zh-CN" altLang="en-US" sz="3200" b="1">
              <a:latin typeface="宋体" panose="02010600030101010101" pitchFamily="2" charset="-122"/>
              <a:ea typeface="宋体" panose="02010600030101010101" pitchFamily="2" charset="-122"/>
              <a:cs typeface="宋体" panose="02010600030101010101" pitchFamily="2" charset="-122"/>
            </a:endParaRPr>
          </a:p>
          <a:p>
            <a:r>
              <a:rPr lang="en-US" altLang="zh-CN" sz="3200" b="1">
                <a:latin typeface="宋体" panose="02010600030101010101" pitchFamily="2" charset="-122"/>
                <a:ea typeface="宋体" panose="02010600030101010101" pitchFamily="2" charset="-122"/>
                <a:cs typeface="宋体" panose="02010600030101010101" pitchFamily="2" charset="-122"/>
                <a:sym typeface="+mn-ea"/>
              </a:rPr>
              <a:t>    </a:t>
            </a:r>
            <a:r>
              <a:rPr lang="zh-CN" altLang="en-US" sz="3200" b="1">
                <a:latin typeface="宋体" panose="02010600030101010101" pitchFamily="2" charset="-122"/>
                <a:ea typeface="宋体" panose="02010600030101010101" pitchFamily="2" charset="-122"/>
                <a:cs typeface="宋体" panose="02010600030101010101" pitchFamily="2" charset="-122"/>
                <a:sym typeface="+mn-ea"/>
              </a:rPr>
              <a:t>中断机制不仅赋予了我处理意外情况的能力，如果我能充分发挥这个机制的妙用，就可以“同时”完成多个任务了。 </a:t>
            </a:r>
            <a:endParaRPr lang="zh-CN" altLang="en-US" sz="3200" b="1">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070610" y="1191260"/>
            <a:ext cx="9926320" cy="4030980"/>
          </a:xfrm>
          <a:prstGeom prst="rect">
            <a:avLst/>
          </a:prstGeom>
          <a:noFill/>
        </p:spPr>
        <p:txBody>
          <a:bodyPr wrap="square" rtlCol="0" anchor="t">
            <a:spAutoFit/>
          </a:bodyPr>
          <a:p>
            <a:r>
              <a:rPr lang="en-US" altLang="zh-CN" sz="3200" b="1">
                <a:latin typeface="宋体" panose="02010600030101010101" pitchFamily="2" charset="-122"/>
                <a:ea typeface="宋体" panose="02010600030101010101" pitchFamily="2" charset="-122"/>
                <a:cs typeface="宋体" panose="02010600030101010101" pitchFamily="2" charset="-122"/>
                <a:sym typeface="+mn-ea"/>
              </a:rPr>
              <a:t>    </a:t>
            </a:r>
            <a:r>
              <a:rPr lang="zh-CN" altLang="en-US" sz="3200" b="1">
                <a:latin typeface="宋体" panose="02010600030101010101" pitchFamily="2" charset="-122"/>
                <a:ea typeface="宋体" panose="02010600030101010101" pitchFamily="2" charset="-122"/>
                <a:cs typeface="宋体" panose="02010600030101010101" pitchFamily="2" charset="-122"/>
                <a:sym typeface="+mn-ea"/>
              </a:rPr>
              <a:t>事实上烧水需要</a:t>
            </a:r>
            <a:r>
              <a:rPr lang="en-US" altLang="zh-CN" sz="3200" b="1">
                <a:latin typeface="宋体" panose="02010600030101010101" pitchFamily="2" charset="-122"/>
                <a:ea typeface="宋体" panose="02010600030101010101" pitchFamily="2" charset="-122"/>
                <a:cs typeface="宋体" panose="02010600030101010101" pitchFamily="2" charset="-122"/>
                <a:sym typeface="+mn-ea"/>
              </a:rPr>
              <a:t>10</a:t>
            </a:r>
            <a:r>
              <a:rPr lang="zh-CN" altLang="en-US" sz="3200" b="1">
                <a:latin typeface="宋体" panose="02010600030101010101" pitchFamily="2" charset="-122"/>
                <a:ea typeface="宋体" panose="02010600030101010101" pitchFamily="2" charset="-122"/>
                <a:cs typeface="宋体" panose="02010600030101010101" pitchFamily="2" charset="-122"/>
                <a:sym typeface="+mn-ea"/>
              </a:rPr>
              <a:t>分钟完成，但是提下水壶和关煤气我只要几秒钟就可以完成。为了这几秒，我需要在厨房等候</a:t>
            </a:r>
            <a:r>
              <a:rPr lang="en-US" altLang="zh-CN" sz="3200" b="1">
                <a:latin typeface="宋体" panose="02010600030101010101" pitchFamily="2" charset="-122"/>
                <a:ea typeface="宋体" panose="02010600030101010101" pitchFamily="2" charset="-122"/>
                <a:cs typeface="宋体" panose="02010600030101010101" pitchFamily="2" charset="-122"/>
                <a:sym typeface="+mn-ea"/>
              </a:rPr>
              <a:t>10</a:t>
            </a:r>
            <a:r>
              <a:rPr lang="zh-CN" altLang="en-US" sz="3200" b="1">
                <a:latin typeface="宋体" panose="02010600030101010101" pitchFamily="2" charset="-122"/>
                <a:ea typeface="宋体" panose="02010600030101010101" pitchFamily="2" charset="-122"/>
                <a:cs typeface="宋体" panose="02010600030101010101" pitchFamily="2" charset="-122"/>
                <a:sym typeface="+mn-ea"/>
              </a:rPr>
              <a:t>分钟。如果使用闹钟定时</a:t>
            </a:r>
            <a:r>
              <a:rPr lang="en-US" altLang="zh-CN" sz="3200" b="1">
                <a:latin typeface="宋体" panose="02010600030101010101" pitchFamily="2" charset="-122"/>
                <a:ea typeface="宋体" panose="02010600030101010101" pitchFamily="2" charset="-122"/>
                <a:cs typeface="宋体" panose="02010600030101010101" pitchFamily="2" charset="-122"/>
                <a:sym typeface="+mn-ea"/>
              </a:rPr>
              <a:t>10</a:t>
            </a:r>
            <a:r>
              <a:rPr lang="zh-CN" altLang="en-US" sz="3200" b="1">
                <a:latin typeface="宋体" panose="02010600030101010101" pitchFamily="2" charset="-122"/>
                <a:ea typeface="宋体" panose="02010600030101010101" pitchFamily="2" charset="-122"/>
                <a:cs typeface="宋体" panose="02010600030101010101" pitchFamily="2" charset="-122"/>
                <a:sym typeface="+mn-ea"/>
              </a:rPr>
              <a:t>分钟，</a:t>
            </a:r>
            <a:r>
              <a:rPr lang="en-US" altLang="zh-CN" sz="3200" b="1">
                <a:latin typeface="宋体" panose="02010600030101010101" pitchFamily="2" charset="-122"/>
                <a:ea typeface="宋体" panose="02010600030101010101" pitchFamily="2" charset="-122"/>
                <a:cs typeface="宋体" panose="02010600030101010101" pitchFamily="2" charset="-122"/>
                <a:sym typeface="+mn-ea"/>
              </a:rPr>
              <a:t>10</a:t>
            </a:r>
            <a:r>
              <a:rPr lang="zh-CN" altLang="en-US" sz="3200" b="1">
                <a:latin typeface="宋体" panose="02010600030101010101" pitchFamily="2" charset="-122"/>
                <a:ea typeface="宋体" panose="02010600030101010101" pitchFamily="2" charset="-122"/>
                <a:cs typeface="宋体" panose="02010600030101010101" pitchFamily="2" charset="-122"/>
                <a:sym typeface="+mn-ea"/>
              </a:rPr>
              <a:t>分钟一到，闹钟就会提醒我该去关煤气了，那么我就可以去安心看电视了。</a:t>
            </a:r>
            <a:endParaRPr lang="zh-CN" altLang="en-US" sz="3200" b="1">
              <a:latin typeface="宋体" panose="02010600030101010101" pitchFamily="2" charset="-122"/>
              <a:ea typeface="宋体" panose="02010600030101010101" pitchFamily="2" charset="-122"/>
              <a:cs typeface="宋体" panose="02010600030101010101" pitchFamily="2" charset="-122"/>
            </a:endParaRPr>
          </a:p>
          <a:p>
            <a:endParaRPr lang="zh-CN" altLang="en-US" sz="3200" b="1">
              <a:latin typeface="宋体" panose="02010600030101010101" pitchFamily="2" charset="-122"/>
              <a:ea typeface="宋体" panose="02010600030101010101" pitchFamily="2" charset="-122"/>
              <a:cs typeface="宋体" panose="02010600030101010101" pitchFamily="2" charset="-122"/>
            </a:endParaRPr>
          </a:p>
          <a:p>
            <a:r>
              <a:rPr lang="en-US" altLang="zh-CN" sz="3200" b="1">
                <a:latin typeface="宋体" panose="02010600030101010101" pitchFamily="2" charset="-122"/>
                <a:ea typeface="宋体" panose="02010600030101010101" pitchFamily="2" charset="-122"/>
                <a:cs typeface="宋体" panose="02010600030101010101" pitchFamily="2" charset="-122"/>
                <a:sym typeface="+mn-ea"/>
              </a:rPr>
              <a:t>    </a:t>
            </a:r>
            <a:r>
              <a:rPr lang="zh-CN" altLang="en-US" sz="3200" b="1">
                <a:latin typeface="宋体" panose="02010600030101010101" pitchFamily="2" charset="-122"/>
                <a:ea typeface="宋体" panose="02010600030101010101" pitchFamily="2" charset="-122"/>
                <a:cs typeface="宋体" panose="02010600030101010101" pitchFamily="2" charset="-122"/>
                <a:sym typeface="+mn-ea"/>
              </a:rPr>
              <a:t>实际上就是用了闹钟这样一个中断信号来提示我完成提水壶和关煤气的任务。</a:t>
            </a:r>
            <a:endParaRPr lang="zh-CN" altLang="en-US" sz="3200" b="1">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文本框 17409"/>
          <p:cNvSpPr txBox="1"/>
          <p:nvPr/>
        </p:nvSpPr>
        <p:spPr>
          <a:xfrm>
            <a:off x="36830" y="275590"/>
            <a:ext cx="12192000" cy="398780"/>
          </a:xfrm>
          <a:prstGeom prst="rect">
            <a:avLst/>
          </a:prstGeom>
          <a:noFill/>
          <a:ln w="9525">
            <a:noFill/>
          </a:ln>
        </p:spPr>
        <p:txBody>
          <a:bodyPr wrap="square">
            <a:spAutoFit/>
          </a:bodyPr>
          <a:p>
            <a:pPr algn="ctr"/>
            <a:r>
              <a:rPr lang="en-US" altLang="zh-CN" sz="2000" b="1">
                <a:latin typeface="宋体" panose="02010600030101010101" pitchFamily="2" charset="-122"/>
                <a:ea typeface="宋体" panose="02010600030101010101" pitchFamily="2" charset="-122"/>
                <a:sym typeface="宋体" panose="02010600030101010101" pitchFamily="2" charset="-122"/>
              </a:rPr>
              <a:t>IE</a:t>
            </a:r>
            <a:r>
              <a:rPr lang="en-US" altLang="zh-CN" sz="2000" b="1">
                <a:latin typeface="Arial" panose="020B0604020202020204" pitchFamily="34" charset="0"/>
                <a:ea typeface="宋体" panose="02010600030101010101" pitchFamily="2" charset="-122"/>
                <a:sym typeface="宋体" panose="02010600030101010101" pitchFamily="2" charset="-122"/>
              </a:rPr>
              <a:t>—</a:t>
            </a:r>
            <a:r>
              <a:rPr lang="zh-CN" altLang="en-US" sz="2000" b="1">
                <a:latin typeface="宋体" panose="02010600030101010101" pitchFamily="2" charset="-122"/>
                <a:ea typeface="宋体" panose="02010600030101010101" pitchFamily="2" charset="-122"/>
                <a:sym typeface="宋体" panose="02010600030101010101" pitchFamily="2" charset="-122"/>
              </a:rPr>
              <a:t>中断使能寄存器的位分配（地址</a:t>
            </a:r>
            <a:r>
              <a:rPr lang="en-US" altLang="zh-CN" sz="2000" b="1">
                <a:latin typeface="宋体" panose="02010600030101010101" pitchFamily="2" charset="-122"/>
                <a:ea typeface="宋体" panose="02010600030101010101" pitchFamily="2" charset="-122"/>
                <a:sym typeface="宋体" panose="02010600030101010101" pitchFamily="2" charset="-122"/>
              </a:rPr>
              <a:t>0xA8</a:t>
            </a:r>
            <a:r>
              <a:rPr lang="zh-CN" altLang="en-US" sz="2000" b="1">
                <a:latin typeface="宋体" panose="02010600030101010101" pitchFamily="2" charset="-122"/>
                <a:ea typeface="宋体" panose="02010600030101010101" pitchFamily="2" charset="-122"/>
                <a:sym typeface="宋体" panose="02010600030101010101" pitchFamily="2" charset="-122"/>
              </a:rPr>
              <a:t>、可位寻址）</a:t>
            </a:r>
            <a:endParaRPr lang="zh-CN" altLang="en-US" sz="2000" b="1">
              <a:latin typeface="宋体" panose="02010600030101010101" pitchFamily="2" charset="-122"/>
              <a:ea typeface="宋体" panose="02010600030101010101" pitchFamily="2" charset="-122"/>
              <a:sym typeface="宋体" panose="02010600030101010101" pitchFamily="2" charset="-122"/>
            </a:endParaRPr>
          </a:p>
        </p:txBody>
      </p:sp>
      <p:graphicFrame>
        <p:nvGraphicFramePr>
          <p:cNvPr id="2" name="表格 1"/>
          <p:cNvGraphicFramePr/>
          <p:nvPr/>
        </p:nvGraphicFramePr>
        <p:xfrm>
          <a:off x="1775143" y="976313"/>
          <a:ext cx="8640763" cy="1582738"/>
        </p:xfrm>
        <a:graphic>
          <a:graphicData uri="http://schemas.openxmlformats.org/drawingml/2006/table">
            <a:tbl>
              <a:tblPr/>
              <a:tblGrid>
                <a:gridCol w="958850"/>
                <a:gridCol w="958850"/>
                <a:gridCol w="958850"/>
                <a:gridCol w="960438"/>
                <a:gridCol w="958850"/>
                <a:gridCol w="958850"/>
                <a:gridCol w="960437"/>
                <a:gridCol w="958850"/>
                <a:gridCol w="966788"/>
              </a:tblGrid>
              <a:tr h="400050">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000" u="none">
                          <a:latin typeface="宋体" panose="02010600030101010101" pitchFamily="2" charset="-122"/>
                          <a:ea typeface="宋体" panose="02010600030101010101" pitchFamily="2" charset="-122"/>
                          <a:sym typeface="宋体" panose="02010600030101010101" pitchFamily="2" charset="-122"/>
                        </a:rPr>
                        <a:t>位</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7</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6</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5</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4</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3</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2</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1</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474663">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000" u="none">
                          <a:latin typeface="宋体" panose="02010600030101010101" pitchFamily="2" charset="-122"/>
                          <a:ea typeface="宋体" panose="02010600030101010101" pitchFamily="2" charset="-122"/>
                          <a:sym typeface="宋体" panose="02010600030101010101" pitchFamily="2" charset="-122"/>
                        </a:rPr>
                        <a:t>符号</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EA</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ET2</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ES</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ET1</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EX1</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ET0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EX0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708025">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000" u="none">
                          <a:latin typeface="宋体" panose="02010600030101010101" pitchFamily="2" charset="-122"/>
                          <a:ea typeface="宋体" panose="02010600030101010101" pitchFamily="2" charset="-122"/>
                          <a:sym typeface="宋体" panose="02010600030101010101" pitchFamily="2" charset="-122"/>
                        </a:rPr>
                        <a:t>复位值</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
        <p:nvSpPr>
          <p:cNvPr id="17505" name="文本框 17504"/>
          <p:cNvSpPr txBox="1"/>
          <p:nvPr/>
        </p:nvSpPr>
        <p:spPr>
          <a:xfrm>
            <a:off x="0" y="2637155"/>
            <a:ext cx="12192000" cy="553085"/>
          </a:xfrm>
          <a:prstGeom prst="rect">
            <a:avLst/>
          </a:prstGeom>
          <a:noFill/>
          <a:ln w="9525">
            <a:noFill/>
          </a:ln>
        </p:spPr>
        <p:txBody>
          <a:bodyPr wrap="square">
            <a:spAutoFit/>
          </a:bodyPr>
          <a:p>
            <a:pPr algn="ctr"/>
            <a:endParaRPr lang="en-US" altLang="zh-CN" sz="1000">
              <a:latin typeface="宋体" panose="02010600030101010101" pitchFamily="2" charset="-122"/>
              <a:ea typeface="宋体" panose="02010600030101010101" pitchFamily="2" charset="-122"/>
              <a:sym typeface="宋体" panose="02010600030101010101" pitchFamily="2" charset="-122"/>
            </a:endParaRPr>
          </a:p>
          <a:p>
            <a:pPr algn="ctr"/>
            <a:r>
              <a:rPr lang="en-US" altLang="zh-CN" sz="2000" b="1">
                <a:latin typeface="宋体" panose="02010600030101010101" pitchFamily="2" charset="-122"/>
                <a:ea typeface="宋体" panose="02010600030101010101" pitchFamily="2" charset="-122"/>
                <a:sym typeface="宋体" panose="02010600030101010101" pitchFamily="2" charset="-122"/>
              </a:rPr>
              <a:t>IE</a:t>
            </a:r>
            <a:r>
              <a:rPr lang="en-US" altLang="zh-CN" sz="2000" b="1">
                <a:latin typeface="Arial" panose="020B0604020202020204" pitchFamily="34" charset="0"/>
                <a:ea typeface="宋体" panose="02010600030101010101" pitchFamily="2" charset="-122"/>
                <a:sym typeface="宋体" panose="02010600030101010101" pitchFamily="2" charset="-122"/>
              </a:rPr>
              <a:t>—</a:t>
            </a:r>
            <a:r>
              <a:rPr lang="zh-CN" altLang="en-US" sz="2000" b="1">
                <a:latin typeface="宋体" panose="02010600030101010101" pitchFamily="2" charset="-122"/>
                <a:ea typeface="宋体" panose="02010600030101010101" pitchFamily="2" charset="-122"/>
                <a:sym typeface="宋体" panose="02010600030101010101" pitchFamily="2" charset="-122"/>
              </a:rPr>
              <a:t>中断使能寄存器的位描述</a:t>
            </a:r>
            <a:endParaRPr lang="zh-CN" altLang="en-US" sz="2000" b="1">
              <a:latin typeface="宋体" panose="02010600030101010101" pitchFamily="2" charset="-122"/>
              <a:ea typeface="宋体" panose="02010600030101010101" pitchFamily="2" charset="-122"/>
              <a:sym typeface="宋体" panose="02010600030101010101" pitchFamily="2" charset="-122"/>
            </a:endParaRPr>
          </a:p>
        </p:txBody>
      </p:sp>
      <p:graphicFrame>
        <p:nvGraphicFramePr>
          <p:cNvPr id="17506" name="表格 17505"/>
          <p:cNvGraphicFramePr/>
          <p:nvPr/>
        </p:nvGraphicFramePr>
        <p:xfrm>
          <a:off x="1775143" y="3339465"/>
          <a:ext cx="8640763" cy="3086100"/>
        </p:xfrm>
        <a:graphic>
          <a:graphicData uri="http://schemas.openxmlformats.org/drawingml/2006/table">
            <a:tbl>
              <a:tblPr/>
              <a:tblGrid>
                <a:gridCol w="1087438"/>
                <a:gridCol w="1268412"/>
                <a:gridCol w="6284913"/>
              </a:tblGrid>
              <a:tr h="334963">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1600" b="1" u="none">
                          <a:latin typeface="宋体" panose="02010600030101010101" pitchFamily="2" charset="-122"/>
                          <a:ea typeface="宋体" panose="02010600030101010101" pitchFamily="2" charset="-122"/>
                          <a:sym typeface="宋体" panose="02010600030101010101" pitchFamily="2" charset="-122"/>
                        </a:rPr>
                        <a:t>位</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1600" b="1" u="none">
                          <a:latin typeface="宋体" panose="02010600030101010101" pitchFamily="2" charset="-122"/>
                          <a:ea typeface="宋体" panose="02010600030101010101" pitchFamily="2" charset="-122"/>
                          <a:sym typeface="宋体" panose="02010600030101010101" pitchFamily="2" charset="-122"/>
                        </a:rPr>
                        <a:t>符号</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1600" b="1" u="none">
                          <a:latin typeface="宋体" panose="02010600030101010101" pitchFamily="2" charset="-122"/>
                          <a:ea typeface="宋体" panose="02010600030101010101" pitchFamily="2" charset="-122"/>
                          <a:sym typeface="宋体" panose="02010600030101010101" pitchFamily="2" charset="-122"/>
                        </a:rPr>
                        <a:t>描述</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t"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96875">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7</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EA</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1600" b="1" u="none">
                          <a:latin typeface="宋体" panose="02010600030101010101" pitchFamily="2" charset="-122"/>
                          <a:ea typeface="宋体" panose="02010600030101010101" pitchFamily="2" charset="-122"/>
                          <a:sym typeface="宋体" panose="02010600030101010101" pitchFamily="2" charset="-122"/>
                        </a:rPr>
                        <a:t>总中断使能位，相当于总开关</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4962">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6</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6550">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5</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ET2</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1600" b="1" u="none">
                          <a:latin typeface="宋体" panose="02010600030101010101" pitchFamily="2" charset="-122"/>
                          <a:ea typeface="宋体" panose="02010600030101010101" pitchFamily="2" charset="-122"/>
                          <a:sym typeface="宋体" panose="02010600030101010101" pitchFamily="2" charset="-122"/>
                        </a:rPr>
                        <a:t>定时器</a:t>
                      </a:r>
                      <a:r>
                        <a:rPr lang="en-US" altLang="zh-CN" sz="1600" b="1" u="none">
                          <a:latin typeface="宋体" panose="02010600030101010101" pitchFamily="2" charset="-122"/>
                          <a:ea typeface="宋体" panose="02010600030101010101" pitchFamily="2" charset="-122"/>
                          <a:sym typeface="宋体" panose="02010600030101010101" pitchFamily="2" charset="-122"/>
                        </a:rPr>
                        <a:t>2</a:t>
                      </a:r>
                      <a:r>
                        <a:rPr lang="zh-CN" altLang="en-US" sz="1600" b="1" u="none">
                          <a:latin typeface="宋体" panose="02010600030101010101" pitchFamily="2" charset="-122"/>
                          <a:ea typeface="宋体" panose="02010600030101010101" pitchFamily="2" charset="-122"/>
                          <a:sym typeface="宋体" panose="02010600030101010101" pitchFamily="2" charset="-122"/>
                        </a:rPr>
                        <a:t>中断使能</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6550">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4</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ES</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1600" b="1" u="none">
                          <a:latin typeface="宋体" panose="02010600030101010101" pitchFamily="2" charset="-122"/>
                          <a:ea typeface="宋体" panose="02010600030101010101" pitchFamily="2" charset="-122"/>
                          <a:sym typeface="宋体" panose="02010600030101010101" pitchFamily="2" charset="-122"/>
                        </a:rPr>
                        <a:t>串口中断使能</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6550">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3</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ET1</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1600" b="1" u="none">
                          <a:latin typeface="宋体" panose="02010600030101010101" pitchFamily="2" charset="-122"/>
                          <a:ea typeface="宋体" panose="02010600030101010101" pitchFamily="2" charset="-122"/>
                          <a:sym typeface="宋体" panose="02010600030101010101" pitchFamily="2" charset="-122"/>
                        </a:rPr>
                        <a:t>定时器</a:t>
                      </a:r>
                      <a:r>
                        <a:rPr lang="en-US" altLang="zh-CN" sz="1600" b="1" u="none">
                          <a:latin typeface="宋体" panose="02010600030101010101" pitchFamily="2" charset="-122"/>
                          <a:ea typeface="宋体" panose="02010600030101010101" pitchFamily="2" charset="-122"/>
                          <a:sym typeface="宋体" panose="02010600030101010101" pitchFamily="2" charset="-122"/>
                        </a:rPr>
                        <a:t>1</a:t>
                      </a:r>
                      <a:r>
                        <a:rPr lang="zh-CN" altLang="en-US" sz="1600" b="1" u="none">
                          <a:latin typeface="宋体" panose="02010600030101010101" pitchFamily="2" charset="-122"/>
                          <a:ea typeface="宋体" panose="02010600030101010101" pitchFamily="2" charset="-122"/>
                          <a:sym typeface="宋体" panose="02010600030101010101" pitchFamily="2" charset="-122"/>
                        </a:rPr>
                        <a:t>中断使能</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6550">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2</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EX1</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1600" b="1" u="none">
                          <a:latin typeface="宋体" panose="02010600030101010101" pitchFamily="2" charset="-122"/>
                          <a:ea typeface="宋体" panose="02010600030101010101" pitchFamily="2" charset="-122"/>
                          <a:sym typeface="宋体" panose="02010600030101010101" pitchFamily="2" charset="-122"/>
                        </a:rPr>
                        <a:t>外部中断</a:t>
                      </a:r>
                      <a:r>
                        <a:rPr lang="en-US" altLang="zh-CN" sz="1600" b="1" u="none">
                          <a:latin typeface="宋体" panose="02010600030101010101" pitchFamily="2" charset="-122"/>
                          <a:ea typeface="宋体" panose="02010600030101010101" pitchFamily="2" charset="-122"/>
                          <a:sym typeface="宋体" panose="02010600030101010101" pitchFamily="2" charset="-122"/>
                        </a:rPr>
                        <a:t>1</a:t>
                      </a:r>
                      <a:r>
                        <a:rPr lang="zh-CN" altLang="en-US" sz="1600" b="1" u="none">
                          <a:latin typeface="宋体" panose="02010600030101010101" pitchFamily="2" charset="-122"/>
                          <a:ea typeface="宋体" panose="02010600030101010101" pitchFamily="2" charset="-122"/>
                          <a:sym typeface="宋体" panose="02010600030101010101" pitchFamily="2" charset="-122"/>
                        </a:rPr>
                        <a:t>使能</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6550">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1</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ET0</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1600" b="1" u="none">
                          <a:latin typeface="宋体" panose="02010600030101010101" pitchFamily="2" charset="-122"/>
                          <a:ea typeface="宋体" panose="02010600030101010101" pitchFamily="2" charset="-122"/>
                          <a:sym typeface="宋体" panose="02010600030101010101" pitchFamily="2" charset="-122"/>
                        </a:rPr>
                        <a:t>定时器</a:t>
                      </a:r>
                      <a:r>
                        <a:rPr lang="en-US" altLang="zh-CN" sz="1600" b="1" u="none">
                          <a:latin typeface="宋体" panose="02010600030101010101" pitchFamily="2" charset="-122"/>
                          <a:ea typeface="宋体" panose="02010600030101010101" pitchFamily="2" charset="-122"/>
                          <a:sym typeface="宋体" panose="02010600030101010101" pitchFamily="2" charset="-122"/>
                        </a:rPr>
                        <a:t>0</a:t>
                      </a:r>
                      <a:r>
                        <a:rPr lang="zh-CN" altLang="en-US" sz="1600" b="1" u="none">
                          <a:latin typeface="宋体" panose="02010600030101010101" pitchFamily="2" charset="-122"/>
                          <a:ea typeface="宋体" panose="02010600030101010101" pitchFamily="2" charset="-122"/>
                          <a:sym typeface="宋体" panose="02010600030101010101" pitchFamily="2" charset="-122"/>
                        </a:rPr>
                        <a:t>中断使能</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336550">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0</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1600" b="1" u="none">
                          <a:latin typeface="宋体" panose="02010600030101010101" pitchFamily="2" charset="-122"/>
                          <a:ea typeface="宋体" panose="02010600030101010101" pitchFamily="2" charset="-122"/>
                          <a:sym typeface="宋体" panose="02010600030101010101" pitchFamily="2" charset="-122"/>
                        </a:rPr>
                        <a:t>EX0</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1600" b="1" u="none">
                          <a:latin typeface="宋体" panose="02010600030101010101" pitchFamily="2" charset="-122"/>
                          <a:ea typeface="宋体" panose="02010600030101010101" pitchFamily="2" charset="-122"/>
                          <a:sym typeface="宋体" panose="02010600030101010101" pitchFamily="2" charset="-122"/>
                        </a:rPr>
                        <a:t>外部中断</a:t>
                      </a:r>
                      <a:r>
                        <a:rPr lang="en-US" altLang="zh-CN" sz="1600" b="1" u="none">
                          <a:latin typeface="宋体" panose="02010600030101010101" pitchFamily="2" charset="-122"/>
                          <a:ea typeface="宋体" panose="02010600030101010101" pitchFamily="2" charset="-122"/>
                          <a:sym typeface="宋体" panose="02010600030101010101" pitchFamily="2" charset="-122"/>
                        </a:rPr>
                        <a:t>0</a:t>
                      </a:r>
                      <a:r>
                        <a:rPr lang="zh-CN" altLang="en-US" sz="1600" b="1" u="none">
                          <a:latin typeface="宋体" panose="02010600030101010101" pitchFamily="2" charset="-122"/>
                          <a:ea typeface="宋体" panose="02010600030101010101" pitchFamily="2" charset="-122"/>
                          <a:sym typeface="宋体" panose="02010600030101010101" pitchFamily="2" charset="-122"/>
                        </a:rPr>
                        <a:t>使能</a:t>
                      </a:r>
                      <a:endParaRPr lang="zh-CN" altLang="en-US" sz="1600" b="1"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文本框 18433"/>
          <p:cNvSpPr txBox="1"/>
          <p:nvPr/>
        </p:nvSpPr>
        <p:spPr>
          <a:xfrm>
            <a:off x="0" y="370205"/>
            <a:ext cx="12150725" cy="398780"/>
          </a:xfrm>
          <a:prstGeom prst="rect">
            <a:avLst/>
          </a:prstGeom>
          <a:noFill/>
          <a:ln w="9525">
            <a:noFill/>
          </a:ln>
        </p:spPr>
        <p:txBody>
          <a:bodyPr wrap="square">
            <a:spAutoFit/>
          </a:bodyPr>
          <a:p>
            <a:pPr algn="ctr"/>
            <a:r>
              <a:rPr lang="zh-CN" altLang="en-US" sz="2000" b="1">
                <a:latin typeface="宋体" panose="02010600030101010101" pitchFamily="2" charset="-122"/>
                <a:ea typeface="宋体" panose="02010600030101010101" pitchFamily="2" charset="-122"/>
                <a:sym typeface="宋体" panose="02010600030101010101" pitchFamily="2" charset="-122"/>
              </a:rPr>
              <a:t>中断查询序列</a:t>
            </a:r>
            <a:endParaRPr lang="zh-CN" altLang="en-US" sz="2000" b="1">
              <a:latin typeface="宋体" panose="02010600030101010101" pitchFamily="2" charset="-122"/>
              <a:ea typeface="宋体" panose="02010600030101010101" pitchFamily="2" charset="-122"/>
              <a:sym typeface="宋体" panose="02010600030101010101" pitchFamily="2" charset="-122"/>
            </a:endParaRPr>
          </a:p>
        </p:txBody>
      </p:sp>
      <p:graphicFrame>
        <p:nvGraphicFramePr>
          <p:cNvPr id="18435" name="表格 18434"/>
          <p:cNvGraphicFramePr/>
          <p:nvPr/>
        </p:nvGraphicFramePr>
        <p:xfrm>
          <a:off x="2041843" y="1270000"/>
          <a:ext cx="8066088" cy="4032250"/>
        </p:xfrm>
        <a:graphic>
          <a:graphicData uri="http://schemas.openxmlformats.org/drawingml/2006/table">
            <a:tbl>
              <a:tblPr/>
              <a:tblGrid>
                <a:gridCol w="1216025"/>
                <a:gridCol w="1471613"/>
                <a:gridCol w="1343025"/>
                <a:gridCol w="1344612"/>
                <a:gridCol w="1344613"/>
                <a:gridCol w="1346200"/>
              </a:tblGrid>
              <a:tr h="860425">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000" u="none">
                          <a:latin typeface="宋体" panose="02010600030101010101" pitchFamily="2" charset="-122"/>
                          <a:ea typeface="宋体" panose="02010600030101010101" pitchFamily="2" charset="-122"/>
                          <a:sym typeface="宋体" panose="02010600030101010101" pitchFamily="2" charset="-122"/>
                        </a:rPr>
                        <a:t>中断函数编号</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000" u="none">
                          <a:latin typeface="宋体" panose="02010600030101010101" pitchFamily="2" charset="-122"/>
                          <a:ea typeface="宋体" panose="02010600030101010101" pitchFamily="2" charset="-122"/>
                          <a:sym typeface="宋体" panose="02010600030101010101" pitchFamily="2" charset="-122"/>
                        </a:rPr>
                        <a:t>中断名称</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000" u="none">
                          <a:latin typeface="宋体" panose="02010600030101010101" pitchFamily="2" charset="-122"/>
                          <a:ea typeface="宋体" panose="02010600030101010101" pitchFamily="2" charset="-122"/>
                          <a:sym typeface="宋体" panose="02010600030101010101" pitchFamily="2" charset="-122"/>
                        </a:rPr>
                        <a:t>中断标志位</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000" u="none">
                          <a:latin typeface="宋体" panose="02010600030101010101" pitchFamily="2" charset="-122"/>
                          <a:ea typeface="宋体" panose="02010600030101010101" pitchFamily="2" charset="-122"/>
                          <a:sym typeface="宋体" panose="02010600030101010101" pitchFamily="2" charset="-122"/>
                        </a:rPr>
                        <a:t>中断使能位</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000" u="none">
                          <a:latin typeface="宋体" panose="02010600030101010101" pitchFamily="2" charset="-122"/>
                          <a:ea typeface="宋体" panose="02010600030101010101" pitchFamily="2" charset="-122"/>
                          <a:sym typeface="宋体" panose="02010600030101010101" pitchFamily="2" charset="-122"/>
                        </a:rPr>
                        <a:t>中断向量地址</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000" u="none">
                          <a:latin typeface="宋体" panose="02010600030101010101" pitchFamily="2" charset="-122"/>
                          <a:ea typeface="宋体" panose="02010600030101010101" pitchFamily="2" charset="-122"/>
                          <a:sym typeface="宋体" panose="02010600030101010101" pitchFamily="2" charset="-122"/>
                        </a:rPr>
                        <a:t>默认优先级</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27050">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000" u="none">
                          <a:latin typeface="宋体" panose="02010600030101010101" pitchFamily="2" charset="-122"/>
                          <a:ea typeface="宋体" panose="02010600030101010101" pitchFamily="2" charset="-122"/>
                          <a:sym typeface="宋体" panose="02010600030101010101" pitchFamily="2" charset="-122"/>
                        </a:rPr>
                        <a:t>外部中断</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IE0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EX0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0x0003</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000" u="none" dirty="0">
                          <a:latin typeface="宋体" panose="02010600030101010101" pitchFamily="2" charset="-122"/>
                          <a:ea typeface="宋体" panose="02010600030101010101" pitchFamily="2" charset="-122"/>
                          <a:sym typeface="宋体" panose="02010600030101010101" pitchFamily="2" charset="-122"/>
                        </a:rPr>
                        <a:t>1(</a:t>
                      </a:r>
                      <a:r>
                        <a:rPr lang="zh-CN" altLang="en-US" sz="2000" u="none" dirty="0">
                          <a:latin typeface="宋体" panose="02010600030101010101" pitchFamily="2" charset="-122"/>
                          <a:ea typeface="宋体" panose="02010600030101010101" pitchFamily="2" charset="-122"/>
                          <a:sym typeface="宋体" panose="02010600030101010101" pitchFamily="2" charset="-122"/>
                        </a:rPr>
                        <a:t>最高)</a:t>
                      </a:r>
                      <a:endParaRPr lang="zh-CN" altLang="en-US" sz="2000" u="none" dirty="0">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30225">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1</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T0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TF0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ET0</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0x000B</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2</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28638">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2</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zh-CN" altLang="en-US" sz="2000" u="none">
                          <a:latin typeface="宋体" panose="02010600030101010101" pitchFamily="2" charset="-122"/>
                          <a:ea typeface="宋体" panose="02010600030101010101" pitchFamily="2" charset="-122"/>
                          <a:sym typeface="宋体" panose="02010600030101010101" pitchFamily="2" charset="-122"/>
                        </a:rPr>
                        <a:t>外部中断</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IE1</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EX1</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0x0013</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3</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28637">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3</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T1</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TF1</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ET1</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0x001B</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4</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30225">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4</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UART</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TI/RI</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ES</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0x0023</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5</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r h="527050">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5</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T2</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TF2/EXF2</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ET2</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0x002B</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wrap="square"/>
                    <a:lstStyle>
                      <a:lvl1pPr marL="342900" lvl="0" indent="-34290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n"/>
                        <a:defRPr sz="2000" u="none" kern="1200" baseline="0">
                          <a:solidFill>
                            <a:schemeClr val="tx1"/>
                          </a:solidFill>
                          <a:latin typeface="Arial" panose="020B0604020202020204" pitchFamily="34" charset="0"/>
                          <a:ea typeface="宋体" panose="02010600030101010101" pitchFamily="2" charset="-122"/>
                        </a:defRPr>
                      </a:lvl1pPr>
                      <a:lvl2pPr marL="742950" lvl="1" indent="-285750" algn="l" defTabSz="914400" eaLnBrk="1" fontAlgn="base" latinLnBrk="0" hangingPunct="1">
                        <a:lnSpc>
                          <a:spcPct val="100000"/>
                        </a:lnSpc>
                        <a:spcBef>
                          <a:spcPct val="20000"/>
                        </a:spcBef>
                        <a:spcAft>
                          <a:spcPct val="0"/>
                        </a:spcAft>
                        <a:buClr>
                          <a:schemeClr val="accent1"/>
                        </a:buClr>
                        <a:buSzPct val="80000"/>
                        <a:buFont typeface="Wingdings" panose="05000000000000000000" pitchFamily="2" charset="2"/>
                        <a:buChar char="l"/>
                        <a:defRPr sz="1800" u="none" kern="1200" baseline="0">
                          <a:solidFill>
                            <a:schemeClr val="tx1"/>
                          </a:solidFill>
                          <a:latin typeface="Arial" panose="020B0604020202020204" pitchFamily="34" charset="0"/>
                          <a:ea typeface="宋体" panose="02010600030101010101" pitchFamily="2" charset="-122"/>
                        </a:defRPr>
                      </a:lvl2pPr>
                      <a:lvl3pPr marL="1143000" lvl="2"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3pPr>
                      <a:lvl4pPr marL="1600200" lvl="3"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600" u="none" kern="1200" baseline="0">
                          <a:solidFill>
                            <a:schemeClr val="tx1"/>
                          </a:solidFill>
                          <a:latin typeface="Arial" panose="020B0604020202020204" pitchFamily="34" charset="0"/>
                          <a:ea typeface="宋体" panose="02010600030101010101" pitchFamily="2" charset="-122"/>
                        </a:defRPr>
                      </a:lvl4pPr>
                      <a:lvl5pPr marL="2057400" lvl="4" indent="-228600" algn="l" defTabSz="91440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sz="1400" u="none" kern="1200" baseline="0">
                          <a:solidFill>
                            <a:schemeClr val="tx1"/>
                          </a:solidFill>
                          <a:latin typeface="Arial" panose="020B0604020202020204" pitchFamily="34" charset="0"/>
                          <a:ea typeface="宋体" panose="02010600030101010101" pitchFamily="2" charset="-122"/>
                        </a:defRPr>
                      </a:lvl5pPr>
                    </a:lstStyle>
                    <a:p>
                      <a:pPr marL="0" lvl="0" indent="0" algn="ctr">
                        <a:buNone/>
                      </a:pPr>
                      <a:r>
                        <a:rPr lang="en-US" altLang="zh-CN" sz="2000" u="none">
                          <a:latin typeface="宋体" panose="02010600030101010101" pitchFamily="2" charset="-122"/>
                          <a:ea typeface="宋体" panose="02010600030101010101" pitchFamily="2" charset="-122"/>
                          <a:sym typeface="宋体" panose="02010600030101010101" pitchFamily="2" charset="-122"/>
                        </a:rPr>
                        <a:t>6</a:t>
                      </a:r>
                      <a:endParaRPr lang="zh-CN" altLang="en-US" sz="2000" u="none">
                        <a:latin typeface="宋体" panose="02010600030101010101" pitchFamily="2" charset="-122"/>
                        <a:ea typeface="宋体" panose="02010600030101010101" pitchFamily="2" charset="-122"/>
                        <a:sym typeface="宋体" panose="02010600030101010101" pitchFamily="2" charset="-122"/>
                      </a:endParaRPr>
                    </a:p>
                  </a:txBody>
                  <a:tcPr vert="horz"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635" y="906145"/>
            <a:ext cx="12192635" cy="3665220"/>
          </a:xfrm>
          <a:prstGeom prst="rect">
            <a:avLst/>
          </a:prstGeom>
          <a:noFill/>
        </p:spPr>
        <p:txBody>
          <a:bodyPr wrap="square" rtlCol="0" anchor="t">
            <a:noAutofit/>
          </a:bodyPr>
          <a:p>
            <a:pPr indent="0" algn="ctr" fontAlgn="base">
              <a:lnSpc>
                <a:spcPct val="150000"/>
              </a:lnSpc>
            </a:pPr>
            <a:r>
              <a:rPr lang="zh-CN" altLang="en-US" sz="3600" b="1">
                <a:solidFill>
                  <a:srgbClr val="0000FF"/>
                </a:solidFill>
                <a:effectLst/>
                <a:latin typeface="Arial Black" panose="020B0A04020102020204" charset="0"/>
                <a:ea typeface="Arial Black" panose="020B0A04020102020204" charset="0"/>
                <a:sym typeface="+mn-ea"/>
              </a:rPr>
              <a:t>金沙滩工作室业务介绍</a:t>
            </a:r>
            <a:endParaRPr lang="zh-CN" altLang="en-US" sz="3600" b="1" strike="noStrike" noProof="1">
              <a:solidFill>
                <a:srgbClr val="0000FF"/>
              </a:solidFill>
              <a:effectLst/>
              <a:latin typeface="Arial Black" panose="020B0A04020102020204" charset="0"/>
              <a:ea typeface="Arial Black" panose="020B0A04020102020204" charset="0"/>
            </a:endParaRPr>
          </a:p>
          <a:p>
            <a:pPr indent="0" algn="ctr" fontAlgn="base">
              <a:lnSpc>
                <a:spcPct val="150000"/>
              </a:lnSpc>
            </a:pPr>
            <a:endParaRPr lang="zh-CN" altLang="en-US" sz="3200" b="1">
              <a:solidFill>
                <a:srgbClr val="0000FF"/>
              </a:solidFill>
              <a:effectLst/>
              <a:latin typeface="Arial Black" panose="020B0A04020102020204" charset="0"/>
              <a:ea typeface="Arial Black" panose="020B0A04020102020204" charset="0"/>
              <a:sym typeface="+mn-ea"/>
            </a:endParaRPr>
          </a:p>
          <a:p>
            <a:pPr indent="0" algn="ctr" fontAlgn="base">
              <a:lnSpc>
                <a:spcPct val="150000"/>
              </a:lnSpc>
            </a:pPr>
            <a:r>
              <a:rPr lang="en-US" altLang="zh-CN" sz="3200" b="1">
                <a:solidFill>
                  <a:srgbClr val="0000FF"/>
                </a:solidFill>
                <a:effectLst/>
                <a:latin typeface="Arial Black" panose="020B0A04020102020204" charset="0"/>
                <a:ea typeface="Arial Black" panose="020B0A04020102020204" charset="0"/>
                <a:sym typeface="+mn-ea"/>
              </a:rPr>
              <a:t>         </a:t>
            </a:r>
            <a:r>
              <a:rPr lang="zh-CN" altLang="en-US" sz="3200" b="1">
                <a:solidFill>
                  <a:srgbClr val="0000FF"/>
                </a:solidFill>
                <a:effectLst/>
                <a:latin typeface="Arial Black" panose="020B0A04020102020204" charset="0"/>
                <a:ea typeface="Arial Black" panose="020B0A04020102020204" charset="0"/>
                <a:sym typeface="+mn-ea"/>
              </a:rPr>
              <a:t>金沙滩工作室：单片机嵌入式教学</a:t>
            </a:r>
            <a:endParaRPr lang="zh-CN" altLang="en-US" sz="3200" b="1" strike="noStrike" noProof="1">
              <a:solidFill>
                <a:srgbClr val="0000FF"/>
              </a:solidFill>
              <a:effectLst/>
              <a:latin typeface="Arial Black" panose="020B0A04020102020204" charset="0"/>
              <a:ea typeface="Arial Black" panose="020B0A04020102020204" charset="0"/>
            </a:endParaRPr>
          </a:p>
          <a:p>
            <a:pPr indent="0" algn="ctr" fontAlgn="base">
              <a:lnSpc>
                <a:spcPct val="150000"/>
              </a:lnSpc>
            </a:pPr>
            <a:r>
              <a:rPr lang="zh-CN" altLang="en-US" sz="3200" b="1">
                <a:solidFill>
                  <a:srgbClr val="0000FF"/>
                </a:solidFill>
                <a:effectLst/>
                <a:latin typeface="Arial Black" panose="020B0A04020102020204" charset="0"/>
                <a:ea typeface="Arial Black" panose="020B0A04020102020204" charset="0"/>
                <a:sym typeface="+mn-ea"/>
              </a:rPr>
              <a:t>青岛金思特电子有限公司：逻辑分析仪、智能仪器</a:t>
            </a:r>
            <a:endParaRPr lang="en-US" altLang="zh-CN" sz="3200" b="1" strike="noStrike" noProof="1">
              <a:solidFill>
                <a:srgbClr val="0000FF"/>
              </a:solidFill>
              <a:effectLst/>
              <a:latin typeface="Arial Black" panose="020B0A04020102020204" charset="0"/>
              <a:ea typeface="Arial Black" panose="020B0A04020102020204" charset="0"/>
            </a:endParaRPr>
          </a:p>
          <a:p>
            <a:pPr indent="0" algn="ctr" fontAlgn="base">
              <a:lnSpc>
                <a:spcPct val="150000"/>
              </a:lnSpc>
            </a:pPr>
            <a:r>
              <a:rPr lang="zh-CN" altLang="en-US" sz="3200" b="1">
                <a:solidFill>
                  <a:srgbClr val="0000FF"/>
                </a:solidFill>
                <a:effectLst/>
                <a:latin typeface="Arial Black" panose="020B0A04020102020204" charset="0"/>
                <a:ea typeface="Arial Black" panose="020B0A04020102020204" charset="0"/>
                <a:sym typeface="+mn-ea"/>
              </a:rPr>
              <a:t>青岛方寸间智能科技有限公司：五子棋、围棋智能电子棋盘</a:t>
            </a:r>
            <a:endParaRPr lang="zh-CN" altLang="en-US" sz="3200" b="1" strike="noStrike" noProof="1">
              <a:solidFill>
                <a:srgbClr val="0000FF"/>
              </a:solidFill>
              <a:effectLst/>
              <a:latin typeface="Arial Black" panose="020B0A04020102020204" charset="0"/>
              <a:ea typeface="Arial Black" panose="020B0A04020102020204" charset="0"/>
            </a:endParaRPr>
          </a:p>
          <a:p>
            <a:pPr indent="0" algn="ctr" fontAlgn="base">
              <a:lnSpc>
                <a:spcPct val="150000"/>
              </a:lnSpc>
            </a:pPr>
            <a:endParaRPr lang="zh-CN" altLang="en-US" sz="3200" b="1" strike="noStrike" noProof="1">
              <a:solidFill>
                <a:srgbClr val="0000FF"/>
              </a:solidFill>
              <a:effectLst/>
              <a:latin typeface="Arial Black" panose="020B0A04020102020204" charset="0"/>
              <a:ea typeface="Arial Black" panose="020B0A04020102020204"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par>
    </p:tnLst>
  </p:timing>
</p:sld>
</file>

<file path=ppt/tags/tag1.xml><?xml version="1.0" encoding="utf-8"?>
<p:tagLst xmlns:p="http://schemas.openxmlformats.org/presentationml/2006/main">
  <p:tag name="commondata" val="eyJjb3VudCI6MiwiaGRpZCI6ImZjYWE3MzUyYmNhZWZlOTVlZTMxMGRhOGMyYTRjNGE5IiwidXNlckNvdW50IjoyfQ=="/>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思源黑体">
      <a:majorFont>
        <a:latin typeface="思源黑体 CN Medium"/>
        <a:ea typeface="思源黑体 CN Medium"/>
        <a:cs typeface=""/>
      </a:majorFont>
      <a:minorFont>
        <a:latin typeface="思源黑体 CN ExtraLight"/>
        <a:ea typeface="思源黑体 CN Extra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思源黑体 CN ExtraLight"/>
        <a:font script="Hebr" typeface="思源黑体 CN Extra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Extra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Extra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CN ExtraLight"/>
        <a:ea typeface=""/>
        <a:cs typeface=""/>
        <a:font script="Jpan" typeface="ＭＳ Ｐゴシック"/>
        <a:font script="Hang" typeface="맑은 고딕"/>
        <a:font script="Hans" typeface="思源黑体 CN ExtraLight"/>
        <a:font script="Hant" typeface="新細明體"/>
        <a:font script="Arab" typeface="思源黑体 CN ExtraLight"/>
        <a:font script="Hebr" typeface="思源黑体 CN ExtraLight"/>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ExtraLight"/>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1069</Words>
  <Application>WPS 演示</Application>
  <PresentationFormat>宽屏</PresentationFormat>
  <Paragraphs>234</Paragraphs>
  <Slides>7</Slides>
  <Notes>18</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vt:i4>
      </vt:variant>
    </vt:vector>
  </HeadingPairs>
  <TitlesOfParts>
    <vt:vector size="17" baseType="lpstr">
      <vt:lpstr>Arial</vt:lpstr>
      <vt:lpstr>宋体</vt:lpstr>
      <vt:lpstr>Wingdings</vt:lpstr>
      <vt:lpstr>思源黑体 CN ExtraLight</vt:lpstr>
      <vt:lpstr>黑体</vt:lpstr>
      <vt:lpstr>微软雅黑</vt:lpstr>
      <vt:lpstr>Arial Black</vt:lpstr>
      <vt:lpstr>Arial Unicode MS</vt:lpstr>
      <vt:lpstr>思源黑体 CN Medium</vt:lpstr>
      <vt:lpstr>1_Office 主题​​</vt:lpstr>
      <vt:lpstr>PowerPoint 演示文稿</vt:lpstr>
      <vt:lpstr>中断的介绍</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ccs</cp:lastModifiedBy>
  <cp:revision>129</cp:revision>
  <dcterms:created xsi:type="dcterms:W3CDTF">2020-07-20T07:36:00Z</dcterms:created>
  <dcterms:modified xsi:type="dcterms:W3CDTF">2025-07-01T08:26:31Z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KSOTemplateUUID">
    <vt:lpwstr>v1.0_mb_iCO9wmVySDXo1sQXpH0/SQ==</vt:lpwstr>
  </property>
  <property fmtid="{D5CDD505-2E9C-101B-9397-08002B2CF9AE}" pid="4" name="ICV">
    <vt:lpwstr>91E6A3D7EBBA4D7D8574D3294ECBBD5D_13</vt:lpwstr>
  </property>
</Properties>
</file>