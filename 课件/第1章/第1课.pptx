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04" r:id="rId3"/>
    <p:sldId id="305" r:id="rId4"/>
    <p:sldId id="306" r:id="rId5"/>
    <p:sldId id="326" r:id="rId6"/>
    <p:sldId id="307" r:id="rId7"/>
    <p:sldId id="313" r:id="rId8"/>
    <p:sldId id="315" r:id="rId9"/>
    <p:sldId id="310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8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第一课：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如何学习单片机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370" y="0"/>
            <a:ext cx="6849745" cy="650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3234055"/>
            <a:ext cx="12192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8" name="左大括号 6147"/>
          <p:cNvSpPr/>
          <p:nvPr/>
        </p:nvSpPr>
        <p:spPr>
          <a:xfrm>
            <a:off x="2465388" y="1664970"/>
            <a:ext cx="936625" cy="3527425"/>
          </a:xfrm>
          <a:prstGeom prst="leftBrace">
            <a:avLst>
              <a:gd name="adj1" fmla="val 31349"/>
              <a:gd name="adj2" fmla="val 50000"/>
            </a:avLst>
          </a:prstGeom>
          <a:noFill/>
          <a:ln w="635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文本框 6150"/>
          <p:cNvSpPr txBox="1"/>
          <p:nvPr/>
        </p:nvSpPr>
        <p:spPr>
          <a:xfrm>
            <a:off x="3227705" y="2032000"/>
            <a:ext cx="74358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自动化、电子电气、通信相关的一门主流技术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文本框 6152"/>
          <p:cNvSpPr txBox="1"/>
          <p:nvPr/>
        </p:nvSpPr>
        <p:spPr>
          <a:xfrm>
            <a:off x="3227705" y="3235643"/>
            <a:ext cx="57594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ARM嵌入式、FPGA基础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27705" y="4439920"/>
            <a:ext cx="75234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安身立命谋生的本领、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毕业生找工作的敲门砖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文本框 6146"/>
          <p:cNvSpPr txBox="1"/>
          <p:nvPr/>
        </p:nvSpPr>
        <p:spPr>
          <a:xfrm>
            <a:off x="1791335" y="2500630"/>
            <a:ext cx="613410" cy="193929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单片机学习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95370" y="367983"/>
            <a:ext cx="5759450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为什么学习单片机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664335" y="2796540"/>
            <a:ext cx="613410" cy="189738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单片机学习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2277428" y="1981518"/>
            <a:ext cx="936625" cy="3527425"/>
          </a:xfrm>
          <a:prstGeom prst="leftBrace">
            <a:avLst>
              <a:gd name="adj1" fmla="val 31349"/>
              <a:gd name="adj2" fmla="val 50000"/>
            </a:avLst>
          </a:prstGeom>
          <a:noFill/>
          <a:ln w="635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文本框 6148"/>
          <p:cNvSpPr txBox="1"/>
          <p:nvPr/>
        </p:nvSpPr>
        <p:spPr>
          <a:xfrm>
            <a:off x="2970530" y="2109470"/>
            <a:ext cx="75615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资深工程师讲解真正实用的技术和知识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0" name="文本框 6149"/>
          <p:cNvSpPr txBox="1"/>
          <p:nvPr/>
        </p:nvSpPr>
        <p:spPr>
          <a:xfrm>
            <a:off x="2970530" y="3672205"/>
            <a:ext cx="718629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后续会在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51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单片机基础上录制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以及嵌入式操作系统的教学课程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70213" y="2890520"/>
            <a:ext cx="6392862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形象比喻，通俗易懂，由浅入深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14370" y="638810"/>
            <a:ext cx="69424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为什么学习金沙滩的单片机教程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92450" y="4929505"/>
            <a:ext cx="71862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不断开源项目提供锻炼机会</a:t>
            </a:r>
            <a:endParaRPr 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内容占位符 8193"/>
          <p:cNvSpPr>
            <a:spLocks noGrp="1"/>
          </p:cNvSpPr>
          <p:nvPr/>
        </p:nvSpPr>
        <p:spPr>
          <a:xfrm>
            <a:off x="1601153" y="1125538"/>
            <a:ext cx="8172450" cy="489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24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•"/>
              <a:defRPr sz="18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8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4000" b="1" dirty="0"/>
          </a:p>
          <a:p>
            <a:endParaRPr lang="zh-CN" altLang="en-US" sz="4800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14370" y="638810"/>
            <a:ext cx="69424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为什么先</a:t>
            </a:r>
            <a:r>
              <a:rPr lang="en-US" altLang="zh-CN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51</a:t>
            </a: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单片机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4530" y="1484630"/>
            <a:ext cx="10897870" cy="4965065"/>
          </a:xfrm>
        </p:spPr>
        <p:txBody>
          <a:bodyPr anchor="t" anchorCtr="0"/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、简单易学，上手快，容易建立学习信心。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、资料多，遇到困难解决渠道多。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、开发板便宜，学习成本低。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回馈社会，</a:t>
            </a:r>
            <a:r>
              <a:rPr lang="en-US" altLang="zh-CN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Kingst51</a:t>
            </a:r>
            <a:r>
              <a:rPr lang="zh-CN" altLang="en-US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开发板将以</a:t>
            </a:r>
            <a:r>
              <a:rPr lang="en-US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利润成本价销售开发板</a:t>
            </a:r>
            <a:r>
              <a:rPr lang="en-US" altLang="zh-CN" sz="274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74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、为学习其他型号打下良好的基础。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684530" y="386715"/>
            <a:ext cx="110026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如何学习单片机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4530" y="1165225"/>
            <a:ext cx="10897870" cy="572135"/>
          </a:xfrm>
        </p:spPr>
        <p:txBody>
          <a:bodyPr anchor="t" anchorCtr="0"/>
          <a:p>
            <a:pPr marL="0" indent="0"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一个要领：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19" name="矩形 9218"/>
          <p:cNvSpPr/>
          <p:nvPr/>
        </p:nvSpPr>
        <p:spPr>
          <a:xfrm>
            <a:off x="2422525" y="1640205"/>
            <a:ext cx="7489825" cy="94869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lnSpcReduction="10000"/>
          </a:bodyPr>
          <a:p>
            <a:pPr algn="ctr"/>
            <a:r>
              <a:rPr lang="zh-CN" altLang="en-US" sz="4800" b="1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effectLst>
                  <a:outerShdw dist="35921" dir="2699999" algn="ctr" rotWithShape="0">
                    <a:srgbClr val="C0C0C0">
                      <a:alpha val="78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在  实  践  中  成  长 ！</a:t>
            </a:r>
            <a:r>
              <a:rPr lang="zh-CN" altLang="en-US" sz="6000" b="1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  <a:tileRect/>
                </a:gradFill>
                <a:effectLst>
                  <a:outerShdw dist="35921" dir="2699999" algn="ctr" rotWithShape="0">
                    <a:srgbClr val="C0C0C0">
                      <a:alpha val="78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zh-CN" altLang="en-US" sz="6000" b="1"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  <a:tileRect/>
              </a:gradFill>
              <a:effectLst>
                <a:outerShdw dist="35921" dir="2699999" algn="ctr" rotWithShape="0">
                  <a:srgbClr val="C0C0C0">
                    <a:alpha val="78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5415" y="3912235"/>
            <a:ext cx="3693160" cy="1106805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zh-CN" altLang="en-US" sz="6600" b="1" spc="3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ExtraLight" panose="020B0200000000000000" pitchFamily="34" charset="-122"/>
              </a:rPr>
              <a:t>四个步骤</a:t>
            </a:r>
            <a:endParaRPr lang="zh-CN" altLang="en-US" sz="6600" b="1" spc="3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38408" y="4044044"/>
            <a:ext cx="123567" cy="8427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ExtraLight" panose="020B0200000000000000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4501515" y="3197160"/>
            <a:ext cx="4081591" cy="646331"/>
            <a:chOff x="6941250" y="-697429"/>
            <a:chExt cx="4081591" cy="646331"/>
          </a:xfrm>
        </p:grpSpPr>
        <p:sp>
          <p:nvSpPr>
            <p:cNvPr id="3" name="矩形 2"/>
            <p:cNvSpPr/>
            <p:nvPr>
              <p:custDataLst>
                <p:tags r:id="rId2"/>
              </p:custDataLst>
            </p:nvPr>
          </p:nvSpPr>
          <p:spPr>
            <a:xfrm>
              <a:off x="6941250" y="-697429"/>
              <a:ext cx="70884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</a:t>
              </a:r>
              <a:r>
                <a:rPr lang="en-US" altLang="zh-CN" sz="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 </a:t>
              </a:r>
              <a:r>
                <a:rPr lang="en-US" altLang="zh-CN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1</a:t>
              </a:r>
              <a:endParaRPr lang="en-US" altLang="zh-CN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7639561" y="-697429"/>
              <a:ext cx="338328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鹦鹉学舌（抄）</a:t>
              </a:r>
              <a:endPara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4"/>
            </p:custDataLst>
          </p:nvPr>
        </p:nvGrpSpPr>
        <p:grpSpPr>
          <a:xfrm>
            <a:off x="4501515" y="3903747"/>
            <a:ext cx="4538791" cy="646331"/>
            <a:chOff x="6941250" y="-697429"/>
            <a:chExt cx="4538791" cy="646331"/>
          </a:xfrm>
        </p:grpSpPr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6941250" y="-697429"/>
              <a:ext cx="69121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02</a:t>
              </a:r>
              <a:endParaRPr lang="en-US" altLang="zh-CN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6"/>
              </p:custDataLst>
            </p:nvPr>
          </p:nvSpPr>
          <p:spPr>
            <a:xfrm>
              <a:off x="7639561" y="-697429"/>
              <a:ext cx="384048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照葫芦画瓢（仿）</a:t>
              </a:r>
              <a:endPara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4501515" y="4579854"/>
            <a:ext cx="5910391" cy="646331"/>
            <a:chOff x="6941250" y="-697429"/>
            <a:chExt cx="5910391" cy="646331"/>
          </a:xfrm>
        </p:grpSpPr>
        <p:sp>
          <p:nvSpPr>
            <p:cNvPr id="12" name="矩形 11"/>
            <p:cNvSpPr/>
            <p:nvPr>
              <p:custDataLst>
                <p:tags r:id="rId8"/>
              </p:custDataLst>
            </p:nvPr>
          </p:nvSpPr>
          <p:spPr>
            <a:xfrm>
              <a:off x="6941250" y="-697429"/>
              <a:ext cx="69121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03</a:t>
              </a:r>
              <a:endParaRPr lang="en-US" altLang="zh-CN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7639561" y="-697429"/>
              <a:ext cx="521208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它山之石可以攻玉（鉴）</a:t>
              </a:r>
              <a:endPara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0"/>
            </p:custDataLst>
          </p:nvPr>
        </p:nvGrpSpPr>
        <p:grpSpPr>
          <a:xfrm>
            <a:off x="4501515" y="5255960"/>
            <a:ext cx="7281991" cy="646331"/>
            <a:chOff x="6941250" y="-697429"/>
            <a:chExt cx="7281991" cy="646331"/>
          </a:xfrm>
        </p:grpSpPr>
        <p:sp>
          <p:nvSpPr>
            <p:cNvPr id="19" name="矩形 18"/>
            <p:cNvSpPr/>
            <p:nvPr>
              <p:custDataLst>
                <p:tags r:id="rId11"/>
              </p:custDataLst>
            </p:nvPr>
          </p:nvSpPr>
          <p:spPr>
            <a:xfrm>
              <a:off x="6941250" y="-697429"/>
              <a:ext cx="69121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04</a:t>
              </a:r>
              <a:endParaRPr lang="en-US" altLang="zh-CN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7639561" y="-697429"/>
              <a:ext cx="658368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理论实践结合，温故知新（思）</a:t>
              </a:r>
              <a:endParaRPr lang="zh-CN" altLang="en-US" sz="3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414655" y="2790825"/>
            <a:ext cx="369316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ExtraLight" panose="020B0200000000000000" pitchFamily="34" charset="-122"/>
              </a:rPr>
              <a:t>学习条件</a:t>
            </a:r>
            <a:endParaRPr lang="zh-CN" altLang="en-US" sz="6600" b="1" spc="3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40033" y="2939779"/>
            <a:ext cx="123567" cy="8427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4899025" y="1863660"/>
            <a:ext cx="5910391" cy="645160"/>
            <a:chOff x="6941250" y="-697429"/>
            <a:chExt cx="5910391" cy="645160"/>
          </a:xfrm>
        </p:grpSpPr>
        <p:sp>
          <p:nvSpPr>
            <p:cNvPr id="14" name="矩形 13"/>
            <p:cNvSpPr/>
            <p:nvPr>
              <p:custDataLst>
                <p:tags r:id="rId2"/>
              </p:custDataLst>
            </p:nvPr>
          </p:nvSpPr>
          <p:spPr>
            <a:xfrm>
              <a:off x="6941250" y="-697429"/>
              <a:ext cx="80454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</a:t>
              </a:r>
              <a:r>
                <a:rPr lang="en-US" altLang="zh-CN" sz="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 </a:t>
              </a:r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1</a:t>
              </a:r>
              <a:endParaRPr lang="en-US" altLang="zh-CN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7639561" y="-697429"/>
              <a:ext cx="5212080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足够的信心、恒信和耐心</a:t>
              </a:r>
              <a:endParaRPr lang="zh-CN" altLang="en-US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4"/>
            </p:custDataLst>
          </p:nvPr>
        </p:nvGrpSpPr>
        <p:grpSpPr>
          <a:xfrm>
            <a:off x="4899025" y="3021097"/>
            <a:ext cx="4538791" cy="645160"/>
            <a:chOff x="6941250" y="-697429"/>
            <a:chExt cx="4538791" cy="645160"/>
          </a:xfrm>
        </p:grpSpPr>
        <p:sp>
          <p:nvSpPr>
            <p:cNvPr id="27" name="矩形 26"/>
            <p:cNvSpPr/>
            <p:nvPr>
              <p:custDataLst>
                <p:tags r:id="rId5"/>
              </p:custDataLst>
            </p:nvPr>
          </p:nvSpPr>
          <p:spPr>
            <a:xfrm>
              <a:off x="6941250" y="-697429"/>
              <a:ext cx="80454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02</a:t>
              </a:r>
              <a:endParaRPr lang="en-US" altLang="zh-CN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6"/>
              </p:custDataLst>
            </p:nvPr>
          </p:nvSpPr>
          <p:spPr>
            <a:xfrm>
              <a:off x="7639561" y="-697429"/>
              <a:ext cx="3840480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优秀的教程和教材</a:t>
              </a:r>
              <a:endParaRPr lang="zh-CN" altLang="en-US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7"/>
            </p:custDataLst>
          </p:nvPr>
        </p:nvGrpSpPr>
        <p:grpSpPr>
          <a:xfrm>
            <a:off x="4899025" y="4178534"/>
            <a:ext cx="5594985" cy="645160"/>
            <a:chOff x="6941250" y="-697429"/>
            <a:chExt cx="5594985" cy="645160"/>
          </a:xfrm>
        </p:grpSpPr>
        <p:sp>
          <p:nvSpPr>
            <p:cNvPr id="33" name="矩形 32"/>
            <p:cNvSpPr/>
            <p:nvPr>
              <p:custDataLst>
                <p:tags r:id="rId8"/>
              </p:custDataLst>
            </p:nvPr>
          </p:nvSpPr>
          <p:spPr>
            <a:xfrm>
              <a:off x="6941250" y="-697429"/>
              <a:ext cx="805180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03</a:t>
              </a:r>
              <a:endParaRPr lang="en-US" altLang="zh-CN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>
            <a:xfrm>
              <a:off x="7639750" y="-697429"/>
              <a:ext cx="489648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电脑和</a:t>
              </a:r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Kingst51</a:t>
              </a:r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开发板</a:t>
              </a:r>
              <a:endParaRPr lang="zh-CN" altLang="en-US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414655" y="2790825"/>
            <a:ext cx="369316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ExtraLight" panose="020B0200000000000000" pitchFamily="34" charset="-122"/>
              </a:rPr>
              <a:t>学前准备</a:t>
            </a:r>
            <a:endParaRPr lang="zh-CN" altLang="en-US" sz="6600" b="1" spc="3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40033" y="2939779"/>
            <a:ext cx="123567" cy="8427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4838065" y="2510725"/>
            <a:ext cx="5910391" cy="645160"/>
            <a:chOff x="6941250" y="-697429"/>
            <a:chExt cx="5910391" cy="645160"/>
          </a:xfrm>
        </p:grpSpPr>
        <p:sp>
          <p:nvSpPr>
            <p:cNvPr id="14" name="矩形 13"/>
            <p:cNvSpPr/>
            <p:nvPr>
              <p:custDataLst>
                <p:tags r:id="rId2"/>
              </p:custDataLst>
            </p:nvPr>
          </p:nvSpPr>
          <p:spPr>
            <a:xfrm>
              <a:off x="6941250" y="-697429"/>
              <a:ext cx="80454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</a:t>
              </a:r>
              <a:r>
                <a:rPr lang="en-US" altLang="zh-CN" sz="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 </a:t>
              </a:r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1</a:t>
              </a:r>
              <a:endParaRPr lang="en-US" altLang="zh-CN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7639561" y="-697429"/>
              <a:ext cx="5212080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编程软件</a:t>
              </a:r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Keil</a:t>
              </a:r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的安装</a:t>
              </a:r>
              <a:endParaRPr lang="zh-CN" altLang="en-US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4"/>
            </p:custDataLst>
          </p:nvPr>
        </p:nvGrpSpPr>
        <p:grpSpPr>
          <a:xfrm>
            <a:off x="4838065" y="3668162"/>
            <a:ext cx="4538791" cy="645160"/>
            <a:chOff x="6941250" y="-697429"/>
            <a:chExt cx="4538791" cy="645160"/>
          </a:xfrm>
        </p:grpSpPr>
        <p:sp>
          <p:nvSpPr>
            <p:cNvPr id="27" name="矩形 26"/>
            <p:cNvSpPr/>
            <p:nvPr>
              <p:custDataLst>
                <p:tags r:id="rId5"/>
              </p:custDataLst>
            </p:nvPr>
          </p:nvSpPr>
          <p:spPr>
            <a:xfrm>
              <a:off x="6941250" y="-697429"/>
              <a:ext cx="804545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02</a:t>
              </a:r>
              <a:endParaRPr lang="en-US" altLang="zh-CN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6"/>
              </p:custDataLst>
            </p:nvPr>
          </p:nvSpPr>
          <p:spPr>
            <a:xfrm>
              <a:off x="7639561" y="-697429"/>
              <a:ext cx="3840480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思源黑体 CN ExtraLight" panose="020B0200000000000000" pitchFamily="34" charset="-122"/>
                </a:rPr>
                <a:t>下载程序软件</a:t>
              </a:r>
              <a:endParaRPr lang="en-US" altLang="zh-CN" sz="36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思源黑体 CN ExtraLight" panose="020B02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2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3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4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5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6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7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8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9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10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11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12.xml><?xml version="1.0" encoding="utf-8"?>
<p:tagLst xmlns:p="http://schemas.openxmlformats.org/presentationml/2006/main">
  <p:tag name="KSO_WM_DIAGRAM_VIRTUALLY_FRAME" val="{&quot;height&quot;:324.3524409448819,&quot;left&quot;:362.35,&quot;top&quot;:109.24488188976378,&quot;width&quot;:622.2351181102364}"/>
</p:tagLst>
</file>

<file path=ppt/tags/tag13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14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15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16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17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18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19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0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1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2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3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4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5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6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7.xml><?xml version="1.0" encoding="utf-8"?>
<p:tagLst xmlns:p="http://schemas.openxmlformats.org/presentationml/2006/main">
  <p:tag name="KSO_WM_DIAGRAM_VIRTUALLY_FRAME" val="{&quot;height&quot;:252.7524409448819,&quot;left&quot;:385.75,&quot;top&quot;:140.24488188976378,&quot;width&quot;:465.4}"/>
</p:tagLst>
</file>

<file path=ppt/tags/tag28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WPS 演示</Application>
  <PresentationFormat>宽屏</PresentationFormat>
  <Paragraphs>108</Paragraphs>
  <Slides>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思源黑体 CN Medium</vt:lpstr>
      <vt:lpstr>Arial Black</vt:lpstr>
      <vt:lpstr>Arial Unicode MS</vt:lpstr>
      <vt:lpstr>思源黑体 CN Medium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129</cp:revision>
  <dcterms:created xsi:type="dcterms:W3CDTF">2020-07-20T07:36:00Z</dcterms:created>
  <dcterms:modified xsi:type="dcterms:W3CDTF">2025-07-01T03:27:34Z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AFC07BC71CA347299B52CB9FC646E990_13</vt:lpwstr>
  </property>
</Properties>
</file>