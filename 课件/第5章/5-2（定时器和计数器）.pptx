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31" r:id="rId3"/>
    <p:sldId id="343" r:id="rId4"/>
    <p:sldId id="344" r:id="rId5"/>
    <p:sldId id="345" r:id="rId6"/>
    <p:sldId id="346" r:id="rId7"/>
    <p:sldId id="347" r:id="rId8"/>
    <p:sldId id="348" r:id="rId9"/>
    <p:sldId id="310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定时器和计数器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定时器和计数器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32915" y="1228725"/>
            <a:ext cx="9004935" cy="4599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时钟周期：单片机时序中的最小单位，具体计算的方法就是时钟源分之一。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机器周期：我们的单片机完成一个操作的最短时间。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定时器：打开定时器后，定时器"存储寄存器"的值经过一个机器周期自动加1，也就是说，机器周期是定时器的计数周期。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定时器存储寄存器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0243" name="表格 10242"/>
          <p:cNvGraphicFramePr/>
          <p:nvPr/>
        </p:nvGraphicFramePr>
        <p:xfrm>
          <a:off x="2207260" y="1964055"/>
          <a:ext cx="7777163" cy="2301875"/>
        </p:xfrm>
        <a:graphic>
          <a:graphicData uri="http://schemas.openxmlformats.org/drawingml/2006/table">
            <a:tbl>
              <a:tblPr/>
              <a:tblGrid>
                <a:gridCol w="1944688"/>
                <a:gridCol w="1944687"/>
                <a:gridCol w="1944688"/>
                <a:gridCol w="1943100"/>
              </a:tblGrid>
              <a:tr h="460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名称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SFR</a:t>
                      </a:r>
                      <a:r>
                        <a:rPr lang="zh-CN" altLang="en-US" sz="2400" b="1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地址</a:t>
                      </a:r>
                      <a:endParaRPr lang="zh-CN" altLang="en-US" sz="2400" b="1" u="none" dirty="0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复位值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TH0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0x8C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TL0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0x8A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TH1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0x8D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TL1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0x8B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0x00</a:t>
                      </a:r>
                      <a:endParaRPr lang="zh-CN" altLang="en-US" sz="24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占位符 11265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9144000" cy="6021387"/>
          </a:xfrm>
        </p:spPr>
        <p:txBody>
          <a:bodyPr/>
          <a:p>
            <a:pPr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en-US" altLang="zh-CN" sz="3200" b="1"/>
          </a:p>
          <a:p>
            <a:pPr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en-US" altLang="zh-CN" sz="3200" b="1"/>
          </a:p>
        </p:txBody>
      </p:sp>
      <p:sp>
        <p:nvSpPr>
          <p:cNvPr id="11267" name="文本框 11266"/>
          <p:cNvSpPr txBox="1"/>
          <p:nvPr/>
        </p:nvSpPr>
        <p:spPr>
          <a:xfrm>
            <a:off x="0" y="205740"/>
            <a:ext cx="121913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TCON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定时器控制寄存器的位分配（地址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0x88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、可位寻址）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1268" name="表格 11267"/>
          <p:cNvGraphicFramePr/>
          <p:nvPr/>
        </p:nvGraphicFramePr>
        <p:xfrm>
          <a:off x="2038668" y="908685"/>
          <a:ext cx="7412038" cy="1279525"/>
        </p:xfrm>
        <a:graphic>
          <a:graphicData uri="http://schemas.openxmlformats.org/drawingml/2006/table">
            <a:tbl>
              <a:tblPr/>
              <a:tblGrid>
                <a:gridCol w="947738"/>
                <a:gridCol w="808037"/>
                <a:gridCol w="808038"/>
                <a:gridCol w="808037"/>
                <a:gridCol w="808038"/>
                <a:gridCol w="808037"/>
                <a:gridCol w="806450"/>
                <a:gridCol w="808038"/>
                <a:gridCol w="809625"/>
              </a:tblGrid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TR1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TR0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IT1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IT0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复位值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62" name="文本框 11361"/>
          <p:cNvSpPr txBox="1"/>
          <p:nvPr/>
        </p:nvSpPr>
        <p:spPr>
          <a:xfrm>
            <a:off x="2466023" y="2630170"/>
            <a:ext cx="6985000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TCON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定时器控制寄存器的位描述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1363" name="表格 11362"/>
          <p:cNvGraphicFramePr/>
          <p:nvPr/>
        </p:nvGraphicFramePr>
        <p:xfrm>
          <a:off x="1640840" y="3041015"/>
          <a:ext cx="8208963" cy="3816350"/>
        </p:xfrm>
        <a:graphic>
          <a:graphicData uri="http://schemas.openxmlformats.org/drawingml/2006/table">
            <a:tbl>
              <a:tblPr/>
              <a:tblGrid>
                <a:gridCol w="587375"/>
                <a:gridCol w="698500"/>
                <a:gridCol w="6923088"/>
              </a:tblGrid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溢出标志。一旦定时器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发生溢出时硬件置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。清零有两种方式：软件清零，或者进入定时器中断时硬件清零。</a:t>
                      </a:r>
                      <a:endParaRPr lang="zh-CN" altLang="en-US" sz="14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TR1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运行控制位。软件置位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/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清零来进行启动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/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停止定时器。</a:t>
                      </a:r>
                      <a:endParaRPr lang="zh-CN" altLang="en-US" sz="14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TF0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溢出标志。一旦定时器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发生溢出时硬件置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。清零有两种方式：软件清零，或者进入定时器中断时硬件清零。</a:t>
                      </a:r>
                      <a:endParaRPr lang="zh-CN" altLang="en-US" sz="14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TR0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定时器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运行控制位。软件置位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/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清零来进行启动</a:t>
                      </a:r>
                      <a:r>
                        <a:rPr lang="en-US" altLang="zh-CN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/</a:t>
                      </a:r>
                      <a:r>
                        <a:rPr lang="zh-CN" altLang="en-US" sz="14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停止定时器。</a:t>
                      </a:r>
                      <a:endParaRPr lang="zh-CN" altLang="en-US" sz="14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 </a:t>
                      </a: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外部中断部分，与定时器无关，暂且不看。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IT1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IE0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968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IT0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12289"/>
          <p:cNvSpPr txBox="1"/>
          <p:nvPr/>
        </p:nvSpPr>
        <p:spPr>
          <a:xfrm>
            <a:off x="635" y="297180"/>
            <a:ext cx="121920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TMOD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定时器模式寄存器的位分配（地址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0x89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、不可位寻址）</a:t>
            </a:r>
            <a:endParaRPr lang="zh-CN" altLang="en-US" sz="2000" b="1">
              <a:latin typeface="Arial" panose="020B0604020202020204" pitchFamily="34" charset="0"/>
            </a:endParaRPr>
          </a:p>
        </p:txBody>
      </p:sp>
      <p:graphicFrame>
        <p:nvGraphicFramePr>
          <p:cNvPr id="12291" name="表格 12290"/>
          <p:cNvGraphicFramePr/>
          <p:nvPr/>
        </p:nvGraphicFramePr>
        <p:xfrm>
          <a:off x="1559878" y="1196340"/>
          <a:ext cx="9072563" cy="1136650"/>
        </p:xfrm>
        <a:graphic>
          <a:graphicData uri="http://schemas.openxmlformats.org/drawingml/2006/table">
            <a:tbl>
              <a:tblPr/>
              <a:tblGrid>
                <a:gridCol w="1006475"/>
                <a:gridCol w="1008063"/>
                <a:gridCol w="1006475"/>
                <a:gridCol w="1008062"/>
                <a:gridCol w="1006475"/>
                <a:gridCol w="1008063"/>
                <a:gridCol w="1006475"/>
                <a:gridCol w="1008062"/>
                <a:gridCol w="1014413"/>
              </a:tblGrid>
              <a:tr h="36512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350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GATE(T1)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C/T(T1)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M1(T1)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M0(T1)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GATE(T0)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C/T(T0)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M1(T0)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M0(T0)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复位值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85" name="文本框 12384"/>
          <p:cNvSpPr txBox="1"/>
          <p:nvPr/>
        </p:nvSpPr>
        <p:spPr>
          <a:xfrm>
            <a:off x="-635" y="2528570"/>
            <a:ext cx="121932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TMOD——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定时器模式寄存器的位描述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2386" name="表格 12385"/>
          <p:cNvGraphicFramePr/>
          <p:nvPr/>
        </p:nvGraphicFramePr>
        <p:xfrm>
          <a:off x="1560195" y="3040380"/>
          <a:ext cx="8929688" cy="3529013"/>
        </p:xfrm>
        <a:graphic>
          <a:graphicData uri="http://schemas.openxmlformats.org/drawingml/2006/table">
            <a:tbl>
              <a:tblPr/>
              <a:tblGrid>
                <a:gridCol w="1425575"/>
                <a:gridCol w="7504113"/>
              </a:tblGrid>
              <a:tr h="60007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T1/T0</a:t>
                      </a:r>
                      <a:endParaRPr lang="en-US" altLang="zh-CN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标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T1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的表示控制定时器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的位，标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T0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的表示控制定时器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的位。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0962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GATE</a:t>
                      </a:r>
                      <a:endParaRPr lang="en-US" altLang="zh-CN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该位被置1时为门控位。仅当‘INT0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’脚为高并且TR0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控制位被置1时使能定时器0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，定时器开始计时，当该位被清0时，只要TR0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位被置1，定时器0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就使能开始计时，不受到单片机引脚INT0</a:t>
                      </a:r>
                      <a:r>
                        <a:rPr lang="zh-CN" altLang="en-US" sz="180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外部信号的干扰，常用来测量外部信号脉冲宽度。这是定时器一个额外功能，本节课暂不介绍。</a:t>
                      </a:r>
                      <a:endParaRPr lang="zh-CN" altLang="en-US" sz="180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6313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C/T</a:t>
                      </a:r>
                      <a:endParaRPr lang="en-US" altLang="zh-CN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定时器或计数器选择位。该位被清零时用作定时器功能（内部系统时钟），被置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宋体" panose="02010600030101010101" pitchFamily="2" charset="-122"/>
                        </a:rPr>
                        <a:t>用作计数器功能。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3313"/>
          <p:cNvSpPr txBox="1"/>
          <p:nvPr/>
        </p:nvSpPr>
        <p:spPr>
          <a:xfrm>
            <a:off x="635" y="405130"/>
            <a:ext cx="121913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TMOD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定时器模式寄存器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Times New Roman" panose="02020603050405020304" charset="0"/>
              </a:rPr>
              <a:t>M1/M0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工作模式</a:t>
            </a:r>
            <a:endParaRPr lang="zh-CN" altLang="en-US" sz="2000" b="1">
              <a:latin typeface="Arial" panose="020B0604020202020204" pitchFamily="34" charset="0"/>
            </a:endParaRPr>
          </a:p>
        </p:txBody>
      </p:sp>
      <p:graphicFrame>
        <p:nvGraphicFramePr>
          <p:cNvPr id="13315" name="表格 13314"/>
          <p:cNvGraphicFramePr/>
          <p:nvPr>
            <p:custDataLst>
              <p:tags r:id="rId1"/>
            </p:custDataLst>
          </p:nvPr>
        </p:nvGraphicFramePr>
        <p:xfrm>
          <a:off x="684530" y="838200"/>
          <a:ext cx="10869295" cy="2778125"/>
        </p:xfrm>
        <a:graphic>
          <a:graphicData uri="http://schemas.openxmlformats.org/drawingml/2006/table">
            <a:tbl>
              <a:tblPr/>
              <a:tblGrid>
                <a:gridCol w="809625"/>
                <a:gridCol w="772795"/>
                <a:gridCol w="1791335"/>
                <a:gridCol w="7495540"/>
              </a:tblGrid>
              <a:tr h="567690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M0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工作模式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zh-CN" altLang="en-US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279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兼容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8048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单片机的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13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位定时器，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THn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位和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TLn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位组成一个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13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位定时器。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THn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和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TLn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组成一个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16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位的定时器。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8790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位自动重装模式，定时器溢出后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THn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重装到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TLn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中。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ctr">
                        <a:buNone/>
                      </a:pPr>
                      <a:r>
                        <a:rPr lang="en-US" altLang="zh-CN" sz="20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20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p>
                      <a:pPr marL="0" lvl="0" indent="0" algn="l">
                        <a:buNone/>
                      </a:pP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禁用定时器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，定时器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变成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个</a:t>
                      </a:r>
                      <a:r>
                        <a:rPr lang="en-US" altLang="zh-CN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8</a:t>
                      </a:r>
                      <a:r>
                        <a:rPr lang="zh-CN" altLang="en-US" sz="1800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位定时器。</a:t>
                      </a:r>
                      <a:endParaRPr lang="zh-CN" altLang="en-US" sz="1800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4530" y="3780155"/>
            <a:ext cx="10869295" cy="294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T1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TH1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TL1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TH1 = 0x05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TL1 = 0x05;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TH0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TL0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TH1 = 0x05; TL1 = 0x05;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使用定时器的步骤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290" y="1209675"/>
            <a:ext cx="10659110" cy="3164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第一：设置特殊功能寄存器TMOD，配置好工作模式。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第二：设置计数寄存器TH0和TL0的初值。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第三：设置TCON，通过TR0置1来让定时器开始计数。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第四：判断TCON寄存器的TF0位，监测定时器溢出情况。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855*218"/>
  <p:tag name="TABLE_ENDDRAG_RECT" val="53*66*855*218"/>
</p:tagLst>
</file>

<file path=ppt/tags/tag2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1514</Words>
  <Application>WPS 演示</Application>
  <PresentationFormat>宽屏</PresentationFormat>
  <Paragraphs>317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Times New Roman</vt:lpstr>
      <vt:lpstr>Arial Black</vt:lpstr>
      <vt:lpstr>Arial Unicode MS</vt:lpstr>
      <vt:lpstr>思源黑体 CN Medium</vt:lpstr>
      <vt:lpstr>1_Office 主题​​</vt:lpstr>
      <vt:lpstr>PowerPoint 演示文稿</vt:lpstr>
      <vt:lpstr>定时器和计数器</vt:lpstr>
      <vt:lpstr>定时器存储寄存器</vt:lpstr>
      <vt:lpstr>PowerPoint 演示文稿</vt:lpstr>
      <vt:lpstr>PowerPoint 演示文稿</vt:lpstr>
      <vt:lpstr>PowerPoint 演示文稿</vt:lpstr>
      <vt:lpstr>使用定时器的步骤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138</cp:revision>
  <dcterms:created xsi:type="dcterms:W3CDTF">2020-07-20T07:36:00Z</dcterms:created>
  <dcterms:modified xsi:type="dcterms:W3CDTF">2025-07-01T07:31:56Z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