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31" r:id="rId3"/>
    <p:sldId id="358" r:id="rId4"/>
    <p:sldId id="359" r:id="rId5"/>
    <p:sldId id="361" r:id="rId6"/>
    <p:sldId id="362" r:id="rId7"/>
    <p:sldId id="310" r:id="rId8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4611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11-2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字符数组和字符指针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331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常量的类型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00455" y="1105535"/>
            <a:ext cx="9901555" cy="48882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整型常量： 1、2、3、100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浮点型常量：3.14、0.56、-4.8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字符型常量：'a'、'b'、'1'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字符串常量："a"、"abc"、"1234"、"1234abcd"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直接常量与符号常量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const unsigned int BAUD = 9600;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unsigned char code LedChar[] = {... ...};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#define 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PI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3.14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</a:rPr>
              <a:t>字符常量和字符串常量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339" name="文本占位符 14338"/>
          <p:cNvSpPr>
            <a:spLocks noGrp="1"/>
          </p:cNvSpPr>
          <p:nvPr>
            <p:ph type="body" sz="half" idx="1"/>
          </p:nvPr>
        </p:nvSpPr>
        <p:spPr>
          <a:xfrm>
            <a:off x="971550" y="1125855"/>
            <a:ext cx="6140450" cy="5732145"/>
          </a:xfrm>
        </p:spPr>
        <p:txBody>
          <a:bodyPr/>
          <a:p>
            <a:pPr marL="0" indent="0">
              <a:lnSpc>
                <a:spcPct val="9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普通字符：'a'   'A'    unsigned char x = 'a';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转义字符：如右所示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字符串常量：“a” "1234"  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"welcome to www.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qd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kingst.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com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</a:pPr>
            <a:endParaRPr lang="zh-CN" altLang="en-US" b="1" dirty="0"/>
          </a:p>
          <a:p>
            <a:pPr>
              <a:lnSpc>
                <a:spcPct val="9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</a:pPr>
            <a:endParaRPr lang="zh-CN" altLang="en-US" b="1" dirty="0"/>
          </a:p>
          <a:p>
            <a:pPr>
              <a:lnSpc>
                <a:spcPct val="9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</a:pPr>
            <a:endParaRPr lang="zh-CN" altLang="en-US" b="1" dirty="0"/>
          </a:p>
          <a:p>
            <a:pPr>
              <a:lnSpc>
                <a:spcPct val="9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</a:pPr>
            <a:endParaRPr lang="zh-CN" altLang="en-US" b="1" dirty="0"/>
          </a:p>
        </p:txBody>
      </p:sp>
      <p:graphicFrame>
        <p:nvGraphicFramePr>
          <p:cNvPr id="14340" name="表格 14339"/>
          <p:cNvGraphicFramePr/>
          <p:nvPr/>
        </p:nvGraphicFramePr>
        <p:xfrm>
          <a:off x="7758113" y="1125855"/>
          <a:ext cx="4038600" cy="4754563"/>
        </p:xfrm>
        <a:graphic>
          <a:graphicData uri="http://schemas.openxmlformats.org/drawingml/2006/table">
            <a:tbl>
              <a:tblPr/>
              <a:tblGrid>
                <a:gridCol w="2019300"/>
                <a:gridCol w="2019300"/>
              </a:tblGrid>
              <a:tr h="411163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字符形式</a:t>
                      </a:r>
                      <a:endParaRPr lang="zh-CN" alt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 b="1">
                          <a:solidFill>
                            <a:srgbClr val="FFFFFF"/>
                          </a:solidFill>
                          <a:latin typeface="Calibri" panose="020F0502020204030204" charset="0"/>
                        </a:rPr>
                        <a:t>含义</a:t>
                      </a:r>
                      <a:endParaRPr lang="zh-CN" altLang="en-US" sz="1800" b="1">
                        <a:solidFill>
                          <a:srgbClr val="FFFFFF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>
                        <a:alpha val="100000"/>
                      </a:srgbClr>
                    </a:solidFill>
                  </a:tcPr>
                </a:tc>
              </a:tr>
              <a:tr h="411162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\n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换行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641350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\t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横向跳格（相当于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Tab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）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411163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\v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竖向跳格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411162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\b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退格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411163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\r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光标移到行首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411162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\\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反斜杠字符‘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\’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412750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\’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单引号字符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411163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\”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双引号字符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411162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\f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走纸换页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411163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\0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n"/>
                        <a:defRPr sz="20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anose="05000000000000000000" pitchFamily="2" charset="2"/>
                        <a:buChar char="l"/>
                        <a:defRPr sz="1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•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–"/>
                        <a:defRPr sz="1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Calibri" panose="020F0502020204030204" charset="0"/>
                        </a:rPr>
                        <a:t>空值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Calibri" panose="020F0502020204030204" charset="0"/>
                      </a:endParaRPr>
                    </a:p>
                  </a:txBody>
                  <a:tcPr vert="horz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2289"/>
          <p:cNvSpPr>
            <a:spLocks noGrp="1"/>
          </p:cNvSpPr>
          <p:nvPr>
            <p:ph type="title"/>
          </p:nvPr>
        </p:nvSpPr>
        <p:spPr>
          <a:xfrm>
            <a:off x="727710" y="89853"/>
            <a:ext cx="10972800" cy="706437"/>
          </a:xfrm>
        </p:spPr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字符数组和字符指针实例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90675" y="1299845"/>
            <a:ext cx="9272905" cy="4250055"/>
          </a:xfrm>
          <a:prstGeom prst="rect">
            <a:avLst/>
          </a:prstGeom>
        </p:spPr>
        <p:txBody>
          <a:bodyPr>
            <a:noAutofit/>
          </a:bodyPr>
          <a:p>
            <a:pPr indent="254000" algn="just" defTabSz="266700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ea typeface="宋体" panose="02010600030101010101" pitchFamily="2" charset="-122"/>
              </a:rPr>
              <a:t>    </a:t>
            </a:r>
            <a:r>
              <a:rPr lang="en-US" altLang="zh-CN" sz="2400">
                <a:latin typeface="Times New Roman" panose="02020603050405020304"/>
                <a:ea typeface="Times New Roman" panose="02020603050405020304"/>
              </a:rPr>
              <a:t>unsigned char array1[] = "1-Hello!\r\n";</a:t>
            </a:r>
            <a:endParaRPr lang="en-US" altLang="zh-CN" sz="2400">
              <a:latin typeface="Times New Roman" panose="02020603050405020304"/>
              <a:ea typeface="Times New Roman" panose="02020603050405020304"/>
            </a:endParaRPr>
          </a:p>
          <a:p>
            <a:pPr indent="254000" algn="just" defTabSz="266700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ea typeface="宋体" panose="02010600030101010101" pitchFamily="2" charset="-122"/>
              </a:rPr>
              <a:t>    </a:t>
            </a:r>
            <a:r>
              <a:rPr lang="en-US" altLang="zh-CN" sz="2400">
                <a:latin typeface="Times New Roman" panose="02020603050405020304"/>
                <a:ea typeface="Times New Roman" panose="02020603050405020304"/>
              </a:rPr>
              <a:t>unsigned char array2[] = {'2', '-', 'H', 'e', 'l', 'l', 'o', '!', '\r', '\n'};</a:t>
            </a:r>
            <a:endParaRPr lang="en-US" altLang="zh-CN" sz="2400">
              <a:latin typeface="Times New Roman" panose="02020603050405020304"/>
              <a:ea typeface="Times New Roman" panose="02020603050405020304"/>
            </a:endParaRPr>
          </a:p>
          <a:p>
            <a:pPr indent="254000" algn="just" defTabSz="266700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ea typeface="宋体" panose="02010600030101010101" pitchFamily="2" charset="-122"/>
              </a:rPr>
              <a:t>    </a:t>
            </a:r>
            <a:r>
              <a:rPr lang="en-US" altLang="zh-CN" sz="2400">
                <a:latin typeface="Times New Roman" panose="02020603050405020304"/>
                <a:ea typeface="Times New Roman" panose="02020603050405020304"/>
              </a:rPr>
              <a:t>unsigned char array3[] = {51, 45, 72, 101, 108, 108, 111, 33, 13, 10};</a:t>
            </a:r>
            <a:endParaRPr lang="en-US" altLang="zh-CN" sz="2400">
              <a:latin typeface="Times New Roman" panose="02020603050405020304"/>
              <a:ea typeface="Times New Roman" panose="02020603050405020304"/>
            </a:endParaRPr>
          </a:p>
          <a:p>
            <a:pPr indent="254000" algn="just" defTabSz="266700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ea typeface="宋体" panose="02010600030101010101" pitchFamily="2" charset="-122"/>
              </a:rPr>
              <a:t>    </a:t>
            </a:r>
            <a:r>
              <a:rPr lang="en-US" altLang="zh-CN" sz="2400">
                <a:latin typeface="Times New Roman" panose="02020603050405020304"/>
                <a:ea typeface="Times New Roman" panose="02020603050405020304"/>
              </a:rPr>
              <a:t>unsigned char array4[] = "4-Hello!\r\n";</a:t>
            </a:r>
            <a:endParaRPr lang="en-US" altLang="zh-CN" sz="2400"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2289"/>
          <p:cNvSpPr>
            <a:spLocks noGrp="1"/>
          </p:cNvSpPr>
          <p:nvPr>
            <p:ph type="title"/>
          </p:nvPr>
        </p:nvSpPr>
        <p:spPr>
          <a:xfrm>
            <a:off x="969645" y="115253"/>
            <a:ext cx="10972800" cy="706437"/>
          </a:xfrm>
        </p:spPr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</a:rPr>
              <a:t>逻辑分析仪抓取数据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11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310" y="1115695"/>
            <a:ext cx="10786745" cy="5138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889</Words>
  <Application>WPS 演示</Application>
  <PresentationFormat>宽屏</PresentationFormat>
  <Paragraphs>102</Paragraphs>
  <Slides>6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思源黑体 CN ExtraLight</vt:lpstr>
      <vt:lpstr>黑体</vt:lpstr>
      <vt:lpstr>微软雅黑</vt:lpstr>
      <vt:lpstr>Calibri</vt:lpstr>
      <vt:lpstr>Times New Roman</vt:lpstr>
      <vt:lpstr>Arial Black</vt:lpstr>
      <vt:lpstr>Arial Unicode MS</vt:lpstr>
      <vt:lpstr>思源黑体 CN Medium</vt:lpstr>
      <vt:lpstr>1_Office 主题​​</vt:lpstr>
      <vt:lpstr>PowerPoint 演示文稿</vt:lpstr>
      <vt:lpstr> 常量的类型</vt:lpstr>
      <vt:lpstr>字符常量和字符串常量</vt:lpstr>
      <vt:lpstr> 字符数组和字符指针实例</vt:lpstr>
      <vt:lpstr>逻辑分析仪抓取数据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152</cp:revision>
  <dcterms:created xsi:type="dcterms:W3CDTF">2020-07-20T07:36:00Z</dcterms:created>
  <dcterms:modified xsi:type="dcterms:W3CDTF">2025-07-01T09:14:01Z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