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4" r:id="rId3"/>
    <p:sldId id="356" r:id="rId4"/>
    <p:sldId id="357" r:id="rId5"/>
    <p:sldId id="358" r:id="rId6"/>
    <p:sldId id="359" r:id="rId7"/>
    <p:sldId id="360" r:id="rId8"/>
    <p:sldId id="310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849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：（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）串口通信的初步认识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串行通信的初步认识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235" y="1064895"/>
            <a:ext cx="11581765" cy="1913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1、并行通信：通信时数据的各个位同时传送，可以实现字节为单位通信，但是通信线多占用资源多，成本高：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P0, P1, P2, P3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P0=0xFE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，即并行总线数据输出。                 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2、串行通信，一次只能发送一位，要发送8次才能发送一个字节。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0b1111 1110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一位一位输出，速度为波特率。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3200" b="1" dirty="0">
                <a:sym typeface="+mn-ea"/>
              </a:rPr>
              <a:t>    </a:t>
            </a:r>
            <a:endParaRPr lang="zh-CN" altLang="en-US" sz="3200" b="1" dirty="0"/>
          </a:p>
          <a:p>
            <a:endParaRPr lang="zh-CN" altLang="en-US" b="1" dirty="0"/>
          </a:p>
          <a:p>
            <a:endParaRPr lang="zh-CN" altLang="en-US" b="1" dirty="0"/>
          </a:p>
        </p:txBody>
      </p:sp>
      <p:pic>
        <p:nvPicPr>
          <p:cNvPr id="7172" name="图片 71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4970" y="2460308"/>
            <a:ext cx="4392613" cy="219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7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4651058"/>
            <a:ext cx="7524750" cy="1990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RS232接口和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USB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转串口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8195" name="图片 81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908" y="992188"/>
            <a:ext cx="4770437" cy="1990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10" y="3305175"/>
            <a:ext cx="4624070" cy="3415665"/>
          </a:xfrm>
          <a:prstGeom prst="rect">
            <a:avLst/>
          </a:prstGeom>
        </p:spPr>
      </p:pic>
      <p:pic>
        <p:nvPicPr>
          <p:cNvPr id="4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508375"/>
            <a:ext cx="4714240" cy="28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三种基本通信类型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0145" y="1198880"/>
            <a:ext cx="10088880" cy="4151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单工通信：只允许一方向另外一方传送信息，另一方不能回传信息，比如电视遥控器、收音机广播等。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半双工通信：数据可以在双方之间传播，同一时刻只能其中一方发给另外一方，比如对讲机就是典型半双工。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全双工通信：发送数据的同时也能够接收数据，两者同步进行，比如我们的电话通信。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ym typeface="+mn-ea"/>
              </a:rPr>
              <a:t>    </a:t>
            </a:r>
            <a:endParaRPr lang="zh-CN" altLang="en-US" sz="1800" b="1" dirty="0"/>
          </a:p>
          <a:p>
            <a:pPr>
              <a:buNone/>
            </a:pPr>
            <a:r>
              <a:rPr lang="zh-CN" altLang="en-US" b="1" dirty="0">
                <a:sym typeface="+mn-ea"/>
              </a:rPr>
              <a:t>	</a:t>
            </a:r>
            <a:endParaRPr lang="zh-CN" altLang="en-US" sz="1800" b="1" dirty="0"/>
          </a:p>
          <a:p>
            <a:endParaRPr lang="zh-CN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UART通信模块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268" name="文本框 11267"/>
          <p:cNvSpPr txBox="1"/>
          <p:nvPr/>
        </p:nvSpPr>
        <p:spPr>
          <a:xfrm>
            <a:off x="0" y="908050"/>
            <a:ext cx="121913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SCON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——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串行控制寄存器的位分配（地址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0x98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、可位寻址）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1269" name="表格 11268"/>
          <p:cNvGraphicFramePr/>
          <p:nvPr/>
        </p:nvGraphicFramePr>
        <p:xfrm>
          <a:off x="1991043" y="1391920"/>
          <a:ext cx="8208963" cy="1177925"/>
        </p:xfrm>
        <a:graphic>
          <a:graphicData uri="http://schemas.openxmlformats.org/drawingml/2006/table">
            <a:tbl>
              <a:tblPr/>
              <a:tblGrid>
                <a:gridCol w="911225"/>
                <a:gridCol w="911225"/>
                <a:gridCol w="911225"/>
                <a:gridCol w="911225"/>
                <a:gridCol w="912813"/>
                <a:gridCol w="911225"/>
                <a:gridCol w="911225"/>
                <a:gridCol w="911225"/>
                <a:gridCol w="917575"/>
              </a:tblGrid>
              <a:tr h="3651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SM0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SM1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SM2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REN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TB8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RB8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TI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RI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7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复位值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63" name="文本框 11362"/>
          <p:cNvSpPr txBox="1"/>
          <p:nvPr/>
        </p:nvSpPr>
        <p:spPr>
          <a:xfrm>
            <a:off x="1270" y="2686050"/>
            <a:ext cx="121907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SCON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——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串行控制寄存器的位描述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1364" name="表格 11363"/>
          <p:cNvGraphicFramePr/>
          <p:nvPr/>
        </p:nvGraphicFramePr>
        <p:xfrm>
          <a:off x="1874838" y="3169603"/>
          <a:ext cx="8208963" cy="3408363"/>
        </p:xfrm>
        <a:graphic>
          <a:graphicData uri="http://schemas.openxmlformats.org/drawingml/2006/table">
            <a:tbl>
              <a:tblPr/>
              <a:tblGrid>
                <a:gridCol w="655638"/>
                <a:gridCol w="762000"/>
                <a:gridCol w="6791325"/>
              </a:tblGrid>
              <a:tr h="3651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位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符号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描述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7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SM0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这两位共同决定了串口通信的模式。我们最常用的就是模式</a:t>
                      </a: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6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SM1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671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5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SM2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多机通信控制位（极少用），模式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4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REN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使能串行接收。由软件置位使能接收，软件清零则禁止接收。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3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TB8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模式</a:t>
                      </a: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RB8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模式</a:t>
                      </a: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2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TI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发送中断标志位，当发送电路发送到停止位的中间位置时，</a:t>
                      </a: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TI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RI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接收中断标志位，当接收电路接收到停止位的中间位置时，</a:t>
                      </a:r>
                      <a:r>
                        <a:rPr lang="en-US" altLang="zh-CN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RI</a:t>
                      </a:r>
                      <a:endParaRPr lang="zh-CN" altLang="en-US" sz="1800" b="1" u="none"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波特率发生器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900" y="1153160"/>
            <a:ext cx="9973945" cy="4646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SBUF ：两个名字相同，地址相同的缓冲器。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计算：TH1 = TL1 = 256 - 晶振值/12/2/16/波特率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如果写：PCON |= 0x80;那么计算公式为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         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TH1 = TL1 = 256 - 晶振值/12/16/波特率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173" name="图片 71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0110" y="4510723"/>
            <a:ext cx="7524750" cy="1990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</Words>
  <Application>WPS 演示</Application>
  <PresentationFormat>宽屏</PresentationFormat>
  <Paragraphs>173</Paragraphs>
  <Slides>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串行通信的初步认识</vt:lpstr>
      <vt:lpstr>RS232接口和USB转串口</vt:lpstr>
      <vt:lpstr>三种基本通信类型</vt:lpstr>
      <vt:lpstr>UART通信模块</vt:lpstr>
      <vt:lpstr>波特率发生器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150</cp:revision>
  <dcterms:created xsi:type="dcterms:W3CDTF">2020-07-20T07:36:00Z</dcterms:created>
  <dcterms:modified xsi:type="dcterms:W3CDTF">2025-07-01T08:54:26Z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